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77" r:id="rId2"/>
    <p:sldId id="275" r:id="rId3"/>
    <p:sldId id="278" r:id="rId4"/>
    <p:sldId id="281" r:id="rId5"/>
    <p:sldId id="280" r:id="rId6"/>
    <p:sldId id="288" r:id="rId7"/>
    <p:sldId id="315" r:id="rId8"/>
    <p:sldId id="308" r:id="rId9"/>
    <p:sldId id="316" r:id="rId10"/>
    <p:sldId id="325" r:id="rId11"/>
    <p:sldId id="317" r:id="rId12"/>
    <p:sldId id="326" r:id="rId13"/>
    <p:sldId id="296" r:id="rId14"/>
    <p:sldId id="287" r:id="rId15"/>
    <p:sldId id="300" r:id="rId16"/>
    <p:sldId id="304" r:id="rId17"/>
    <p:sldId id="309" r:id="rId18"/>
    <p:sldId id="313" r:id="rId19"/>
    <p:sldId id="310" r:id="rId20"/>
    <p:sldId id="314" r:id="rId21"/>
    <p:sldId id="311" r:id="rId22"/>
    <p:sldId id="318" r:id="rId23"/>
    <p:sldId id="319" r:id="rId24"/>
    <p:sldId id="327" r:id="rId25"/>
    <p:sldId id="320" r:id="rId26"/>
    <p:sldId id="328" r:id="rId27"/>
    <p:sldId id="321" r:id="rId28"/>
    <p:sldId id="324" r:id="rId29"/>
    <p:sldId id="294" r:id="rId30"/>
    <p:sldId id="293" r:id="rId31"/>
    <p:sldId id="27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40"/>
    <a:srgbClr val="B6862C"/>
    <a:srgbClr val="FACC00"/>
    <a:srgbClr val="FAEA21"/>
    <a:srgbClr val="2FB7D5"/>
    <a:srgbClr val="D92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58"/>
  </p:normalViewPr>
  <p:slideViewPr>
    <p:cSldViewPr snapToGrid="0">
      <p:cViewPr varScale="1">
        <p:scale>
          <a:sx n="86" d="100"/>
          <a:sy n="86" d="100"/>
        </p:scale>
        <p:origin x="67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AUROC</c:v>
                </c:pt>
              </c:strCache>
            </c:strRef>
          </c:tx>
          <c:spPr>
            <a:ln w="38100" cap="flat">
              <a:solidFill>
                <a:srgbClr val="0F7B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8.4898989898989918E-2"/>
                  <c:y val="-5.98272753784564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F3-4DCE-B0BE-44F35B6143EF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B3A57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V1 (21)</c:v>
                </c:pt>
                <c:pt idx="1">
                  <c:v>V6 (40)</c:v>
                </c:pt>
                <c:pt idx="2">
                  <c:v>V7 (50)</c:v>
                </c:pt>
                <c:pt idx="3">
                  <c:v>Expanded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0.70899999999999996</c:v>
                </c:pt>
                <c:pt idx="1">
                  <c:v>0.77800000000000002</c:v>
                </c:pt>
                <c:pt idx="2">
                  <c:v>0.79500000000000004</c:v>
                </c:pt>
                <c:pt idx="3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F3-4DCE-B0BE-44F35B6143E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2"/>
          <c:min val="0.6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1FF463-7845-5F46-899E-53812F1FDD0F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76D5E601-A481-514F-BD09-495B46F8540A}">
      <dgm:prSet phldrT="[Text]" custT="1"/>
      <dgm:spPr>
        <a:solidFill>
          <a:srgbClr val="B8872D"/>
        </a:solidFill>
      </dgm:spPr>
      <dgm:t>
        <a:bodyPr/>
        <a:lstStyle/>
        <a:p>
          <a:r>
            <a:rPr lang="en-US" sz="3200" dirty="0"/>
            <a:t>V4: 33 Features</a:t>
          </a:r>
        </a:p>
      </dgm:t>
    </dgm:pt>
    <dgm:pt modelId="{B93D9DDE-C7DE-1C42-A7ED-73E15688E3B9}" type="parTrans" cxnId="{9A90DBFB-63E5-E641-A706-32F9D980A8AD}">
      <dgm:prSet/>
      <dgm:spPr/>
      <dgm:t>
        <a:bodyPr/>
        <a:lstStyle/>
        <a:p>
          <a:endParaRPr lang="en-US"/>
        </a:p>
      </dgm:t>
    </dgm:pt>
    <dgm:pt modelId="{D133C4FA-DE7F-524E-8416-3B10FB7F2FE0}" type="sibTrans" cxnId="{9A90DBFB-63E5-E641-A706-32F9D980A8AD}">
      <dgm:prSet/>
      <dgm:spPr/>
      <dgm:t>
        <a:bodyPr/>
        <a:lstStyle/>
        <a:p>
          <a:endParaRPr lang="en-US"/>
        </a:p>
      </dgm:t>
    </dgm:pt>
    <dgm:pt modelId="{FB7B61AD-5BD7-8440-8B12-5D0ABF2A45B3}">
      <dgm:prSet phldrT="[Text]" custT="1"/>
      <dgm:spPr>
        <a:solidFill>
          <a:srgbClr val="B8872D"/>
        </a:solidFill>
      </dgm:spPr>
      <dgm:t>
        <a:bodyPr/>
        <a:lstStyle/>
        <a:p>
          <a:r>
            <a:rPr lang="en-US" sz="3200" dirty="0"/>
            <a:t>V6: 40 Features</a:t>
          </a:r>
        </a:p>
      </dgm:t>
    </dgm:pt>
    <dgm:pt modelId="{FE077D29-8F1A-D64E-9B23-316118085622}" type="parTrans" cxnId="{804F1829-A3FB-8F43-A046-DD111C3E73BF}">
      <dgm:prSet/>
      <dgm:spPr/>
      <dgm:t>
        <a:bodyPr/>
        <a:lstStyle/>
        <a:p>
          <a:endParaRPr lang="en-US"/>
        </a:p>
      </dgm:t>
    </dgm:pt>
    <dgm:pt modelId="{70860AF4-64A6-A84D-BE28-4A8CD81C8A7A}" type="sibTrans" cxnId="{804F1829-A3FB-8F43-A046-DD111C3E73BF}">
      <dgm:prSet/>
      <dgm:spPr/>
      <dgm:t>
        <a:bodyPr/>
        <a:lstStyle/>
        <a:p>
          <a:endParaRPr lang="en-US"/>
        </a:p>
      </dgm:t>
    </dgm:pt>
    <dgm:pt modelId="{F9D1F26F-CE89-EF4E-9602-DC9D6D8D61E8}">
      <dgm:prSet phldrT="[Text]" custT="1"/>
      <dgm:spPr>
        <a:solidFill>
          <a:srgbClr val="091F3F"/>
        </a:solidFill>
      </dgm:spPr>
      <dgm:t>
        <a:bodyPr/>
        <a:lstStyle/>
        <a:p>
          <a:r>
            <a:rPr lang="en-US" sz="3200" dirty="0"/>
            <a:t>V5: 36 Features</a:t>
          </a:r>
        </a:p>
      </dgm:t>
    </dgm:pt>
    <dgm:pt modelId="{2A4AECD9-7C22-1F4B-85D1-68C4AA699DDA}" type="sibTrans" cxnId="{A53A291A-2B00-6143-BF0B-D05AA410C50C}">
      <dgm:prSet/>
      <dgm:spPr/>
      <dgm:t>
        <a:bodyPr/>
        <a:lstStyle/>
        <a:p>
          <a:endParaRPr lang="en-US"/>
        </a:p>
      </dgm:t>
    </dgm:pt>
    <dgm:pt modelId="{7C4F5D23-68D6-974B-AD58-259FE781251C}" type="parTrans" cxnId="{A53A291A-2B00-6143-BF0B-D05AA410C50C}">
      <dgm:prSet/>
      <dgm:spPr/>
      <dgm:t>
        <a:bodyPr/>
        <a:lstStyle/>
        <a:p>
          <a:endParaRPr lang="en-US"/>
        </a:p>
      </dgm:t>
    </dgm:pt>
    <dgm:pt modelId="{76CCCB93-6026-1A45-A952-401FE2559650}">
      <dgm:prSet/>
      <dgm:spPr>
        <a:solidFill>
          <a:srgbClr val="081E3E"/>
        </a:solidFill>
      </dgm:spPr>
      <dgm:t>
        <a:bodyPr/>
        <a:lstStyle/>
        <a:p>
          <a:r>
            <a:rPr lang="en-US" dirty="0"/>
            <a:t>V7: 50 Features</a:t>
          </a:r>
        </a:p>
      </dgm:t>
    </dgm:pt>
    <dgm:pt modelId="{BFB93D1F-0B34-144A-8B98-41F30CAEB4E4}" type="parTrans" cxnId="{2C5EAFFF-32EA-DD42-8426-1A385E524F56}">
      <dgm:prSet/>
      <dgm:spPr/>
      <dgm:t>
        <a:bodyPr/>
        <a:lstStyle/>
        <a:p>
          <a:endParaRPr lang="en-US"/>
        </a:p>
      </dgm:t>
    </dgm:pt>
    <dgm:pt modelId="{044A08AC-18D6-F94C-9205-05E61E9F86C3}" type="sibTrans" cxnId="{2C5EAFFF-32EA-DD42-8426-1A385E524F56}">
      <dgm:prSet/>
      <dgm:spPr/>
      <dgm:t>
        <a:bodyPr/>
        <a:lstStyle/>
        <a:p>
          <a:endParaRPr lang="en-US"/>
        </a:p>
      </dgm:t>
    </dgm:pt>
    <dgm:pt modelId="{1C5E7A6B-5F3D-E347-9294-F63FA3ED747A}" type="pres">
      <dgm:prSet presAssocID="{391FF463-7845-5F46-899E-53812F1FDD0F}" presName="Name0" presStyleCnt="0">
        <dgm:presLayoutVars>
          <dgm:dir/>
          <dgm:animLvl val="lvl"/>
          <dgm:resizeHandles val="exact"/>
        </dgm:presLayoutVars>
      </dgm:prSet>
      <dgm:spPr/>
    </dgm:pt>
    <dgm:pt modelId="{1DF00768-59BC-364A-A9A1-1641A67782B7}" type="pres">
      <dgm:prSet presAssocID="{76D5E601-A481-514F-BD09-495B46F8540A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D16265A-E798-3D42-8757-61FED3625A00}" type="pres">
      <dgm:prSet presAssocID="{D133C4FA-DE7F-524E-8416-3B10FB7F2FE0}" presName="parTxOnlySpace" presStyleCnt="0"/>
      <dgm:spPr/>
    </dgm:pt>
    <dgm:pt modelId="{A7E4948D-5AFD-6C49-9D69-42B8831521B0}" type="pres">
      <dgm:prSet presAssocID="{F9D1F26F-CE89-EF4E-9602-DC9D6D8D61E8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937486-D5B7-0B45-AA35-FD619043C518}" type="pres">
      <dgm:prSet presAssocID="{2A4AECD9-7C22-1F4B-85D1-68C4AA699DDA}" presName="parTxOnlySpace" presStyleCnt="0"/>
      <dgm:spPr/>
    </dgm:pt>
    <dgm:pt modelId="{0E06B868-D2E5-CA41-97D5-43A2AC92AE2B}" type="pres">
      <dgm:prSet presAssocID="{FB7B61AD-5BD7-8440-8B12-5D0ABF2A45B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99979E-D4C9-B147-AC24-627F0F6DD1DA}" type="pres">
      <dgm:prSet presAssocID="{70860AF4-64A6-A84D-BE28-4A8CD81C8A7A}" presName="parTxOnlySpace" presStyleCnt="0"/>
      <dgm:spPr/>
    </dgm:pt>
    <dgm:pt modelId="{435743DB-C77F-D643-B451-C77738C9E0C8}" type="pres">
      <dgm:prSet presAssocID="{76CCCB93-6026-1A45-A952-401FE2559650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53A291A-2B00-6143-BF0B-D05AA410C50C}" srcId="{391FF463-7845-5F46-899E-53812F1FDD0F}" destId="{F9D1F26F-CE89-EF4E-9602-DC9D6D8D61E8}" srcOrd="1" destOrd="0" parTransId="{7C4F5D23-68D6-974B-AD58-259FE781251C}" sibTransId="{2A4AECD9-7C22-1F4B-85D1-68C4AA699DDA}"/>
    <dgm:cxn modelId="{804F1829-A3FB-8F43-A046-DD111C3E73BF}" srcId="{391FF463-7845-5F46-899E-53812F1FDD0F}" destId="{FB7B61AD-5BD7-8440-8B12-5D0ABF2A45B3}" srcOrd="2" destOrd="0" parTransId="{FE077D29-8F1A-D64E-9B23-316118085622}" sibTransId="{70860AF4-64A6-A84D-BE28-4A8CD81C8A7A}"/>
    <dgm:cxn modelId="{06BB4345-42CF-6B49-8118-10E3AAC382D8}" type="presOf" srcId="{76CCCB93-6026-1A45-A952-401FE2559650}" destId="{435743DB-C77F-D643-B451-C77738C9E0C8}" srcOrd="0" destOrd="0" presId="urn:microsoft.com/office/officeart/2005/8/layout/chevron1"/>
    <dgm:cxn modelId="{F1F8EE9B-5022-3646-9B77-AB75DE9BBDBB}" type="presOf" srcId="{76D5E601-A481-514F-BD09-495B46F8540A}" destId="{1DF00768-59BC-364A-A9A1-1641A67782B7}" srcOrd="0" destOrd="0" presId="urn:microsoft.com/office/officeart/2005/8/layout/chevron1"/>
    <dgm:cxn modelId="{5EB9A4B5-5C33-8F4E-BB1E-7DEAE3FD13A6}" type="presOf" srcId="{FB7B61AD-5BD7-8440-8B12-5D0ABF2A45B3}" destId="{0E06B868-D2E5-CA41-97D5-43A2AC92AE2B}" srcOrd="0" destOrd="0" presId="urn:microsoft.com/office/officeart/2005/8/layout/chevron1"/>
    <dgm:cxn modelId="{142E29BE-F54F-2446-871C-87E97742A813}" type="presOf" srcId="{F9D1F26F-CE89-EF4E-9602-DC9D6D8D61E8}" destId="{A7E4948D-5AFD-6C49-9D69-42B8831521B0}" srcOrd="0" destOrd="0" presId="urn:microsoft.com/office/officeart/2005/8/layout/chevron1"/>
    <dgm:cxn modelId="{196D46E2-EC5F-004F-9CD6-9EE41FEEAED5}" type="presOf" srcId="{391FF463-7845-5F46-899E-53812F1FDD0F}" destId="{1C5E7A6B-5F3D-E347-9294-F63FA3ED747A}" srcOrd="0" destOrd="0" presId="urn:microsoft.com/office/officeart/2005/8/layout/chevron1"/>
    <dgm:cxn modelId="{9A90DBFB-63E5-E641-A706-32F9D980A8AD}" srcId="{391FF463-7845-5F46-899E-53812F1FDD0F}" destId="{76D5E601-A481-514F-BD09-495B46F8540A}" srcOrd="0" destOrd="0" parTransId="{B93D9DDE-C7DE-1C42-A7ED-73E15688E3B9}" sibTransId="{D133C4FA-DE7F-524E-8416-3B10FB7F2FE0}"/>
    <dgm:cxn modelId="{2C5EAFFF-32EA-DD42-8426-1A385E524F56}" srcId="{391FF463-7845-5F46-899E-53812F1FDD0F}" destId="{76CCCB93-6026-1A45-A952-401FE2559650}" srcOrd="3" destOrd="0" parTransId="{BFB93D1F-0B34-144A-8B98-41F30CAEB4E4}" sibTransId="{044A08AC-18D6-F94C-9205-05E61E9F86C3}"/>
    <dgm:cxn modelId="{61A97AD9-8BA6-5E4E-9DB2-C0466C17A4EA}" type="presParOf" srcId="{1C5E7A6B-5F3D-E347-9294-F63FA3ED747A}" destId="{1DF00768-59BC-364A-A9A1-1641A67782B7}" srcOrd="0" destOrd="0" presId="urn:microsoft.com/office/officeart/2005/8/layout/chevron1"/>
    <dgm:cxn modelId="{28FA87E1-36A5-7E4A-B9DE-2CCDF767E6CA}" type="presParOf" srcId="{1C5E7A6B-5F3D-E347-9294-F63FA3ED747A}" destId="{DD16265A-E798-3D42-8757-61FED3625A00}" srcOrd="1" destOrd="0" presId="urn:microsoft.com/office/officeart/2005/8/layout/chevron1"/>
    <dgm:cxn modelId="{F6BE4134-0D9A-C442-B9B2-BB75765A9F78}" type="presParOf" srcId="{1C5E7A6B-5F3D-E347-9294-F63FA3ED747A}" destId="{A7E4948D-5AFD-6C49-9D69-42B8831521B0}" srcOrd="2" destOrd="0" presId="urn:microsoft.com/office/officeart/2005/8/layout/chevron1"/>
    <dgm:cxn modelId="{87D5BAB4-627C-E846-AB8B-D83FCBEAB260}" type="presParOf" srcId="{1C5E7A6B-5F3D-E347-9294-F63FA3ED747A}" destId="{EC937486-D5B7-0B45-AA35-FD619043C518}" srcOrd="3" destOrd="0" presId="urn:microsoft.com/office/officeart/2005/8/layout/chevron1"/>
    <dgm:cxn modelId="{931636F9-FA9E-2449-BB88-714E0B291376}" type="presParOf" srcId="{1C5E7A6B-5F3D-E347-9294-F63FA3ED747A}" destId="{0E06B868-D2E5-CA41-97D5-43A2AC92AE2B}" srcOrd="4" destOrd="0" presId="urn:microsoft.com/office/officeart/2005/8/layout/chevron1"/>
    <dgm:cxn modelId="{4A1AD663-B08C-5849-ACBE-03DE486A856E}" type="presParOf" srcId="{1C5E7A6B-5F3D-E347-9294-F63FA3ED747A}" destId="{A599979E-D4C9-B147-AC24-627F0F6DD1DA}" srcOrd="5" destOrd="0" presId="urn:microsoft.com/office/officeart/2005/8/layout/chevron1"/>
    <dgm:cxn modelId="{568997A7-D79B-A64F-92B7-7861F98D84BF}" type="presParOf" srcId="{1C5E7A6B-5F3D-E347-9294-F63FA3ED747A}" destId="{435743DB-C77F-D643-B451-C77738C9E0C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1FF463-7845-5F46-899E-53812F1FDD0F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76D5E601-A481-514F-BD09-495B46F8540A}">
      <dgm:prSet phldrT="[Text]"/>
      <dgm:spPr>
        <a:solidFill>
          <a:srgbClr val="091F3F"/>
        </a:solidFill>
      </dgm:spPr>
      <dgm:t>
        <a:bodyPr/>
        <a:lstStyle/>
        <a:p>
          <a:r>
            <a:rPr lang="en-US" dirty="0"/>
            <a:t>V1: 21 Features</a:t>
          </a:r>
        </a:p>
      </dgm:t>
    </dgm:pt>
    <dgm:pt modelId="{B93D9DDE-C7DE-1C42-A7ED-73E15688E3B9}" type="parTrans" cxnId="{9A90DBFB-63E5-E641-A706-32F9D980A8AD}">
      <dgm:prSet/>
      <dgm:spPr/>
      <dgm:t>
        <a:bodyPr/>
        <a:lstStyle/>
        <a:p>
          <a:endParaRPr lang="en-US"/>
        </a:p>
      </dgm:t>
    </dgm:pt>
    <dgm:pt modelId="{D133C4FA-DE7F-524E-8416-3B10FB7F2FE0}" type="sibTrans" cxnId="{9A90DBFB-63E5-E641-A706-32F9D980A8AD}">
      <dgm:prSet/>
      <dgm:spPr/>
      <dgm:t>
        <a:bodyPr/>
        <a:lstStyle/>
        <a:p>
          <a:endParaRPr lang="en-US"/>
        </a:p>
      </dgm:t>
    </dgm:pt>
    <dgm:pt modelId="{F9D1F26F-CE89-EF4E-9602-DC9D6D8D61E8}">
      <dgm:prSet phldrT="[Text]"/>
      <dgm:spPr>
        <a:solidFill>
          <a:srgbClr val="B8872D"/>
        </a:solidFill>
      </dgm:spPr>
      <dgm:t>
        <a:bodyPr/>
        <a:lstStyle/>
        <a:p>
          <a:r>
            <a:rPr lang="en-US" dirty="0"/>
            <a:t>V2: 24 Features</a:t>
          </a:r>
        </a:p>
      </dgm:t>
    </dgm:pt>
    <dgm:pt modelId="{7C4F5D23-68D6-974B-AD58-259FE781251C}" type="parTrans" cxnId="{A53A291A-2B00-6143-BF0B-D05AA410C50C}">
      <dgm:prSet/>
      <dgm:spPr/>
      <dgm:t>
        <a:bodyPr/>
        <a:lstStyle/>
        <a:p>
          <a:endParaRPr lang="en-US"/>
        </a:p>
      </dgm:t>
    </dgm:pt>
    <dgm:pt modelId="{2A4AECD9-7C22-1F4B-85D1-68C4AA699DDA}" type="sibTrans" cxnId="{A53A291A-2B00-6143-BF0B-D05AA410C50C}">
      <dgm:prSet/>
      <dgm:spPr/>
      <dgm:t>
        <a:bodyPr/>
        <a:lstStyle/>
        <a:p>
          <a:endParaRPr lang="en-US"/>
        </a:p>
      </dgm:t>
    </dgm:pt>
    <dgm:pt modelId="{FB7B61AD-5BD7-8440-8B12-5D0ABF2A45B3}">
      <dgm:prSet phldrT="[Text]"/>
      <dgm:spPr>
        <a:solidFill>
          <a:srgbClr val="091F3F"/>
        </a:solidFill>
      </dgm:spPr>
      <dgm:t>
        <a:bodyPr/>
        <a:lstStyle/>
        <a:p>
          <a:r>
            <a:rPr lang="en-US" dirty="0"/>
            <a:t>V3: 28 Features</a:t>
          </a:r>
        </a:p>
      </dgm:t>
    </dgm:pt>
    <dgm:pt modelId="{FE077D29-8F1A-D64E-9B23-316118085622}" type="parTrans" cxnId="{804F1829-A3FB-8F43-A046-DD111C3E73BF}">
      <dgm:prSet/>
      <dgm:spPr/>
      <dgm:t>
        <a:bodyPr/>
        <a:lstStyle/>
        <a:p>
          <a:endParaRPr lang="en-US"/>
        </a:p>
      </dgm:t>
    </dgm:pt>
    <dgm:pt modelId="{70860AF4-64A6-A84D-BE28-4A8CD81C8A7A}" type="sibTrans" cxnId="{804F1829-A3FB-8F43-A046-DD111C3E73BF}">
      <dgm:prSet/>
      <dgm:spPr/>
      <dgm:t>
        <a:bodyPr/>
        <a:lstStyle/>
        <a:p>
          <a:endParaRPr lang="en-US"/>
        </a:p>
      </dgm:t>
    </dgm:pt>
    <dgm:pt modelId="{1C5E7A6B-5F3D-E347-9294-F63FA3ED747A}" type="pres">
      <dgm:prSet presAssocID="{391FF463-7845-5F46-899E-53812F1FDD0F}" presName="Name0" presStyleCnt="0">
        <dgm:presLayoutVars>
          <dgm:dir/>
          <dgm:animLvl val="lvl"/>
          <dgm:resizeHandles val="exact"/>
        </dgm:presLayoutVars>
      </dgm:prSet>
      <dgm:spPr/>
    </dgm:pt>
    <dgm:pt modelId="{1DF00768-59BC-364A-A9A1-1641A67782B7}" type="pres">
      <dgm:prSet presAssocID="{76D5E601-A481-514F-BD09-495B46F8540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D16265A-E798-3D42-8757-61FED3625A00}" type="pres">
      <dgm:prSet presAssocID="{D133C4FA-DE7F-524E-8416-3B10FB7F2FE0}" presName="parTxOnlySpace" presStyleCnt="0"/>
      <dgm:spPr/>
    </dgm:pt>
    <dgm:pt modelId="{A7E4948D-5AFD-6C49-9D69-42B8831521B0}" type="pres">
      <dgm:prSet presAssocID="{F9D1F26F-CE89-EF4E-9602-DC9D6D8D61E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C937486-D5B7-0B45-AA35-FD619043C518}" type="pres">
      <dgm:prSet presAssocID="{2A4AECD9-7C22-1F4B-85D1-68C4AA699DDA}" presName="parTxOnlySpace" presStyleCnt="0"/>
      <dgm:spPr/>
    </dgm:pt>
    <dgm:pt modelId="{0E06B868-D2E5-CA41-97D5-43A2AC92AE2B}" type="pres">
      <dgm:prSet presAssocID="{FB7B61AD-5BD7-8440-8B12-5D0ABF2A45B3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53A291A-2B00-6143-BF0B-D05AA410C50C}" srcId="{391FF463-7845-5F46-899E-53812F1FDD0F}" destId="{F9D1F26F-CE89-EF4E-9602-DC9D6D8D61E8}" srcOrd="1" destOrd="0" parTransId="{7C4F5D23-68D6-974B-AD58-259FE781251C}" sibTransId="{2A4AECD9-7C22-1F4B-85D1-68C4AA699DDA}"/>
    <dgm:cxn modelId="{804F1829-A3FB-8F43-A046-DD111C3E73BF}" srcId="{391FF463-7845-5F46-899E-53812F1FDD0F}" destId="{FB7B61AD-5BD7-8440-8B12-5D0ABF2A45B3}" srcOrd="2" destOrd="0" parTransId="{FE077D29-8F1A-D64E-9B23-316118085622}" sibTransId="{70860AF4-64A6-A84D-BE28-4A8CD81C8A7A}"/>
    <dgm:cxn modelId="{1E247D78-7648-1844-9B19-1D170D44606B}" type="presOf" srcId="{FB7B61AD-5BD7-8440-8B12-5D0ABF2A45B3}" destId="{0E06B868-D2E5-CA41-97D5-43A2AC92AE2B}" srcOrd="0" destOrd="0" presId="urn:microsoft.com/office/officeart/2005/8/layout/chevron1"/>
    <dgm:cxn modelId="{0A96B69A-4C92-694F-BE42-483DA1969134}" type="presOf" srcId="{F9D1F26F-CE89-EF4E-9602-DC9D6D8D61E8}" destId="{A7E4948D-5AFD-6C49-9D69-42B8831521B0}" srcOrd="0" destOrd="0" presId="urn:microsoft.com/office/officeart/2005/8/layout/chevron1"/>
    <dgm:cxn modelId="{FFB1DAE0-E426-9546-9D8F-C6880E4EDFCD}" type="presOf" srcId="{76D5E601-A481-514F-BD09-495B46F8540A}" destId="{1DF00768-59BC-364A-A9A1-1641A67782B7}" srcOrd="0" destOrd="0" presId="urn:microsoft.com/office/officeart/2005/8/layout/chevron1"/>
    <dgm:cxn modelId="{196D46E2-EC5F-004F-9CD6-9EE41FEEAED5}" type="presOf" srcId="{391FF463-7845-5F46-899E-53812F1FDD0F}" destId="{1C5E7A6B-5F3D-E347-9294-F63FA3ED747A}" srcOrd="0" destOrd="0" presId="urn:microsoft.com/office/officeart/2005/8/layout/chevron1"/>
    <dgm:cxn modelId="{9A90DBFB-63E5-E641-A706-32F9D980A8AD}" srcId="{391FF463-7845-5F46-899E-53812F1FDD0F}" destId="{76D5E601-A481-514F-BD09-495B46F8540A}" srcOrd="0" destOrd="0" parTransId="{B93D9DDE-C7DE-1C42-A7ED-73E15688E3B9}" sibTransId="{D133C4FA-DE7F-524E-8416-3B10FB7F2FE0}"/>
    <dgm:cxn modelId="{FBB4468A-930D-A143-BC7C-8A428D352A25}" type="presParOf" srcId="{1C5E7A6B-5F3D-E347-9294-F63FA3ED747A}" destId="{1DF00768-59BC-364A-A9A1-1641A67782B7}" srcOrd="0" destOrd="0" presId="urn:microsoft.com/office/officeart/2005/8/layout/chevron1"/>
    <dgm:cxn modelId="{33DE596A-C6C0-FF46-9271-28D9A8CB6A02}" type="presParOf" srcId="{1C5E7A6B-5F3D-E347-9294-F63FA3ED747A}" destId="{DD16265A-E798-3D42-8757-61FED3625A00}" srcOrd="1" destOrd="0" presId="urn:microsoft.com/office/officeart/2005/8/layout/chevron1"/>
    <dgm:cxn modelId="{38C8897E-3887-FE4C-9F18-19D761E9EF45}" type="presParOf" srcId="{1C5E7A6B-5F3D-E347-9294-F63FA3ED747A}" destId="{A7E4948D-5AFD-6C49-9D69-42B8831521B0}" srcOrd="2" destOrd="0" presId="urn:microsoft.com/office/officeart/2005/8/layout/chevron1"/>
    <dgm:cxn modelId="{1CE8CDDD-BBF8-2548-ABB0-D6A31E8DF82A}" type="presParOf" srcId="{1C5E7A6B-5F3D-E347-9294-F63FA3ED747A}" destId="{EC937486-D5B7-0B45-AA35-FD619043C518}" srcOrd="3" destOrd="0" presId="urn:microsoft.com/office/officeart/2005/8/layout/chevron1"/>
    <dgm:cxn modelId="{16D43347-30DD-B94D-A334-EBA40289945E}" type="presParOf" srcId="{1C5E7A6B-5F3D-E347-9294-F63FA3ED747A}" destId="{0E06B868-D2E5-CA41-97D5-43A2AC92AE2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00768-59BC-364A-A9A1-1641A67782B7}">
      <dsp:nvSpPr>
        <dsp:cNvPr id="0" name=""/>
        <dsp:cNvSpPr/>
      </dsp:nvSpPr>
      <dsp:spPr>
        <a:xfrm>
          <a:off x="5025" y="492506"/>
          <a:ext cx="2925114" cy="1170045"/>
        </a:xfrm>
        <a:prstGeom prst="chevron">
          <a:avLst/>
        </a:prstGeom>
        <a:solidFill>
          <a:srgbClr val="B8872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V4: 33 Features</a:t>
          </a:r>
        </a:p>
      </dsp:txBody>
      <dsp:txXfrm>
        <a:off x="590048" y="492506"/>
        <a:ext cx="1755069" cy="1170045"/>
      </dsp:txXfrm>
    </dsp:sp>
    <dsp:sp modelId="{A7E4948D-5AFD-6C49-9D69-42B8831521B0}">
      <dsp:nvSpPr>
        <dsp:cNvPr id="0" name=""/>
        <dsp:cNvSpPr/>
      </dsp:nvSpPr>
      <dsp:spPr>
        <a:xfrm>
          <a:off x="2637627" y="492506"/>
          <a:ext cx="2925114" cy="1170045"/>
        </a:xfrm>
        <a:prstGeom prst="chevron">
          <a:avLst/>
        </a:prstGeom>
        <a:solidFill>
          <a:srgbClr val="091F3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V5: 36 Features</a:t>
          </a:r>
        </a:p>
      </dsp:txBody>
      <dsp:txXfrm>
        <a:off x="3222650" y="492506"/>
        <a:ext cx="1755069" cy="1170045"/>
      </dsp:txXfrm>
    </dsp:sp>
    <dsp:sp modelId="{0E06B868-D2E5-CA41-97D5-43A2AC92AE2B}">
      <dsp:nvSpPr>
        <dsp:cNvPr id="0" name=""/>
        <dsp:cNvSpPr/>
      </dsp:nvSpPr>
      <dsp:spPr>
        <a:xfrm>
          <a:off x="5270230" y="492506"/>
          <a:ext cx="2925114" cy="1170045"/>
        </a:xfrm>
        <a:prstGeom prst="chevron">
          <a:avLst/>
        </a:prstGeom>
        <a:solidFill>
          <a:srgbClr val="B8872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V6: 40 Features</a:t>
          </a:r>
        </a:p>
      </dsp:txBody>
      <dsp:txXfrm>
        <a:off x="5855253" y="492506"/>
        <a:ext cx="1755069" cy="1170045"/>
      </dsp:txXfrm>
    </dsp:sp>
    <dsp:sp modelId="{435743DB-C77F-D643-B451-C77738C9E0C8}">
      <dsp:nvSpPr>
        <dsp:cNvPr id="0" name=""/>
        <dsp:cNvSpPr/>
      </dsp:nvSpPr>
      <dsp:spPr>
        <a:xfrm>
          <a:off x="7902833" y="492506"/>
          <a:ext cx="2925114" cy="1170045"/>
        </a:xfrm>
        <a:prstGeom prst="chevron">
          <a:avLst/>
        </a:prstGeom>
        <a:solidFill>
          <a:srgbClr val="081E3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V7: 50 Features</a:t>
          </a:r>
        </a:p>
      </dsp:txBody>
      <dsp:txXfrm>
        <a:off x="8487856" y="492506"/>
        <a:ext cx="1755069" cy="11700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00768-59BC-364A-A9A1-1641A67782B7}">
      <dsp:nvSpPr>
        <dsp:cNvPr id="0" name=""/>
        <dsp:cNvSpPr/>
      </dsp:nvSpPr>
      <dsp:spPr>
        <a:xfrm>
          <a:off x="2381" y="497298"/>
          <a:ext cx="2901156" cy="1160462"/>
        </a:xfrm>
        <a:prstGeom prst="chevron">
          <a:avLst/>
        </a:prstGeom>
        <a:solidFill>
          <a:srgbClr val="091F3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V1: 21 Features</a:t>
          </a:r>
        </a:p>
      </dsp:txBody>
      <dsp:txXfrm>
        <a:off x="582612" y="497298"/>
        <a:ext cx="1740694" cy="1160462"/>
      </dsp:txXfrm>
    </dsp:sp>
    <dsp:sp modelId="{A7E4948D-5AFD-6C49-9D69-42B8831521B0}">
      <dsp:nvSpPr>
        <dsp:cNvPr id="0" name=""/>
        <dsp:cNvSpPr/>
      </dsp:nvSpPr>
      <dsp:spPr>
        <a:xfrm>
          <a:off x="2613421" y="497298"/>
          <a:ext cx="2901156" cy="1160462"/>
        </a:xfrm>
        <a:prstGeom prst="chevron">
          <a:avLst/>
        </a:prstGeom>
        <a:solidFill>
          <a:srgbClr val="B8872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V2: 24 Features</a:t>
          </a:r>
        </a:p>
      </dsp:txBody>
      <dsp:txXfrm>
        <a:off x="3193652" y="497298"/>
        <a:ext cx="1740694" cy="1160462"/>
      </dsp:txXfrm>
    </dsp:sp>
    <dsp:sp modelId="{0E06B868-D2E5-CA41-97D5-43A2AC92AE2B}">
      <dsp:nvSpPr>
        <dsp:cNvPr id="0" name=""/>
        <dsp:cNvSpPr/>
      </dsp:nvSpPr>
      <dsp:spPr>
        <a:xfrm>
          <a:off x="5224462" y="497298"/>
          <a:ext cx="2901156" cy="1160462"/>
        </a:xfrm>
        <a:prstGeom prst="chevron">
          <a:avLst/>
        </a:prstGeom>
        <a:solidFill>
          <a:srgbClr val="091F3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V3: 28 Features</a:t>
          </a:r>
        </a:p>
      </dsp:txBody>
      <dsp:txXfrm>
        <a:off x="5804693" y="497298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27C01-C3BF-0641-B7C5-82D3DFB1C65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83128-108B-9248-A208-B3A895FA6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4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B59C-57FF-FDCB-6243-A8D11E333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44260-B3E8-FD7D-55D7-A0000CF3A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23F25-8AEA-41DE-BDC2-6E2C702A3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20453-2843-D046-F0AE-3D53D8461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B138-D3E6-77F0-0F57-58FBE81D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4815F-956D-B4AF-B60F-B3A52E2B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7DF4D-DEAB-C3A2-B9EC-1C593398D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D329-DF65-9E5B-27AA-CB8115F4D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17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0D1E-FF6A-47BE-63A2-14B96258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DB56E-5CF3-D0A6-7A0F-2FF7139FE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3E5E8-0F88-1E6E-E9D0-40C068FDC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0BE71-94C7-80A6-EB5C-0982AEAFB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3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6F9A-2776-6629-889B-EC28E39C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B10A1-2D44-64DF-B56E-C7AA248A0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FCDF7-CD19-C37D-3675-A11FEAC93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48C79-7D9B-2819-36AD-C9EC973A7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11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0A216-E9D3-BE14-0DE2-E0FA6A14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49DE2-0064-BE38-4629-A31C70E45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6F0B0-E52A-3653-95C3-64556212C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A7B9D-B9B7-BF43-3C57-46913BBF6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8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BE482-70D3-1783-37F7-D8803E727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D4BC6-47B7-AAB7-09B6-E6C4F495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B4195-8AC5-2093-A618-40C776D78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B8ADA-2825-04EB-617E-8D0061791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82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15C02-9FBD-F6AC-961B-6B22CBAF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F1B38-3F8F-E38B-6435-AE1702B63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40EAE-F708-B3D0-7DB2-04A078A15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66968-9859-6AE4-E734-452E7CBCD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62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A0DA7-CCCA-D771-ADBD-0CBED761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5DF1F-C62C-4E94-46E2-342EFCFD0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02E80-379B-C8CC-58D1-023156C51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</a:t>
            </a:r>
            <a:r>
              <a:rPr lang="en-US" dirty="0"/>
              <a:t>: This slide uses step-by-step animations. Versions V1–V6 appear sequentially during the presentation; the overlapping text only occurs in edit mode.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D9E0C-A181-9567-3D3E-C1230666C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73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8B68-348D-F15D-FE1D-E1AAE27A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9E1C2-420A-4E27-D013-355D463EB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D9300-39D2-C670-79F6-BC3AFBA15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AFDAA-7016-34CE-F892-03BF025E1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84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0752-C1C3-F2BB-0C5F-F5FD2B0C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E5B80-AC5D-34B7-9FC1-C043F44B4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C1757-6FAD-AC40-BAA4-E83A72095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9460C-8215-ADCB-92DA-5DE390DBB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44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0F71-F6BA-6991-EFD8-5ECA976F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EE53-628D-04ED-4CFB-29CCE5727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BC0D8-E834-D92F-FA16-AC6374990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8B850-27C1-2C77-AFC1-16434E4FC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4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BB01-0861-056F-DB2B-C7B5D322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DDC66-331A-8589-9088-71F931E0E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B451A-C9FE-CBB4-545C-D296FDBEF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9FA2D-F212-D9EE-629D-E30DD47AE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36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209A-F5FD-F1D5-A150-646F7DD6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24DA6-79E7-436A-CD6F-4EA24B65D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E9A16-0AED-EFD2-6E1F-FD524109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D8073-BFF4-AA67-963D-1B38CAE52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94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3BD6-2ABC-A792-5AD8-9187B74A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6705B-2796-6929-0CFC-1B2DCE101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61695-E016-3BA2-F02F-528A9726E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C49A7-04B8-9DC3-8BB3-D3EA1920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72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2A1C8-C7D4-D4FA-CC81-14DB7994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7F259-7CD9-778A-A7FD-BA986CE70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3264D-3198-E2FB-AB12-C938227D9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77675-E790-8D63-AE17-CBF29EAD1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25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9F386-DCFD-EC25-08B2-2FFFD6DE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900B6-EC00-66CB-699F-E83EDE686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33908-63A4-2D77-91AE-2478B08E6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5A0B9-8300-91C4-4493-827E7422C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8381E-C2C5-AE74-D34A-5B0AABCC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DB971-4BD0-F1D7-31F2-62F3A9F84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DE404-8699-8549-3EAF-5FA5CFBA8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220EE-BAB6-7C37-907C-863A022F7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79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937E-381F-1780-4D14-BB86CE4B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CAF17-5F6C-9991-2E1D-D5672C279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05488-760D-C2C6-6235-092CB92F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EF2C5-56CF-5D0F-7C0E-F8B656B87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50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48F9-D1B5-5472-AC2F-5902E230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046EC-EEE7-F4AA-F21B-7764032C0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0D4D1-C10E-5C38-B557-8F762CF3B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82EA2-465A-93ED-4423-E086F98BB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74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577EC-7293-1856-D46C-88607BBD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0075E-75B0-E635-AA7D-CA22C0885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AECF0-EF74-E5C4-9105-D136802DD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3D78F-A73D-21E6-82B8-4C8667A7E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340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4C40-272D-B6E6-78F7-83A7E23E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E1190-32DE-BF21-E6CE-6AF6DF91D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A5A28-6A2B-B92B-695A-E9956E47D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D0FD8-313F-7870-E07A-506A37A21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6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CE69-C9FC-60B7-04A9-AF628502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8E16A-5753-7952-B514-4E3EB0CC9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BB312-BEBA-8849-DEE6-1FBDA68E9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4949A-4099-6F4E-54CA-863C474BC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892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6548-DD1B-9794-8789-8C5D1345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39B4B-37B5-9067-FDEE-DB8FE6A74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CAEBA-3741-89C3-E480-67BF51394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217C8-260E-FF12-44D3-6A6ECAA50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617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FD9C-BDFA-67AC-E8FA-1766C6A2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06A5F-24C0-F729-38F7-ADDEF989A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EF4D3-D176-A4FC-F54E-B793361B7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F72BD-6BB5-FCD3-686F-8E262DC64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54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B0D0-CCC4-B388-F9B1-D3598A82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F55C3-B28F-F393-7C63-904EC6AE1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30FA8-60DA-F097-9720-294D4E789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8D0D4-F29C-4C0E-6F6D-D6AFCDE4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438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2062-D402-62BE-93D8-0249E5B8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21FC1-2C1E-FD4F-988E-6784E4241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E0C16-031B-415D-AC1B-FD0C3910A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2E7AB-21A6-85F1-06CB-0F27C26F6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43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6BD81-8066-65E1-2A7E-0336F5B4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E9E30-D1E7-9753-3DD7-EF894FE57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BDB2A-AF8C-CD56-5F59-117B28C51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B7369-E26E-0D5D-BBB4-D5D3E2605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59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6D157-DEC4-F964-558B-9A36DBD3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DD944-C882-7C59-79C6-9BC0BAEF3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6EA90-B853-8ED2-8A9D-54E0EC7B6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AC7E1-3962-91C7-B22C-043428928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569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C6BD-A0FD-0AE2-5E0F-F288DDA4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83E5F-04B9-2A3D-58AB-3E1758F56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1CA84-D8B3-F09D-4531-36213D152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580CD-DAAD-1FEC-5728-1D4868D7D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717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9240-8DA4-CA49-3CFD-E486585C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9615B-600F-6F68-7D7C-037487243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C921F-8345-C22A-1E49-9543EE75E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F61CA-D25F-FCA2-CDC4-B589A8DD2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68F09-EBE4-2B41-9F60-97E1615E426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2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6DFD-BA2A-77B7-7AAA-274670F90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CB793-F4AA-5B53-CFB1-0DF34CFBC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7395E-8457-832E-56AA-F47EC15D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6953-3A6E-4374-96BE-E08EC2A07C2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33445-1343-1C9E-44D8-53D62CB6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ACC4E-BEA5-C221-F377-E7EF4C13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9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31B3-F25C-2C09-509B-641DFB5E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D6F6F-6408-02EA-F8EF-2C3BF0A1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9BDC-F0E8-BAF1-00DF-79C4381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B612-30A8-4914-A3E7-BCBF1903E2D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AB342-F674-D344-09C3-E1A4F493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CFB5C-B517-94AE-7FD7-9E43F2E1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3A08-9729-4B9B-8EC1-5EDD7A3CA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5194-894F-ED77-7873-AA0C5F8FC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03AD-A21C-E338-5D12-A32646E4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2392-F10D-4C7E-AD99-0F1E1616781B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EEAD5-4FC6-FC03-E247-47195593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99B87-9627-0FDF-8549-1F555A29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91E0-A3B4-A964-D11A-B6ADF2DC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468D-2D15-41AE-B78E-2FD3068B4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088A9-0543-52F7-649D-84513950F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6A692-D59F-02DF-703C-8215FC43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C74A-763A-4CEA-B5B7-15B32F131B49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6B75F-8687-AF55-4FF9-2F1BDDE6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9E147-E37A-E132-2F23-35759421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CEB3-9934-01BD-2D7C-40B2CEF8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FC1E-6401-EC8E-BEF2-8FA13AEA9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98581-7E14-CBC8-2E37-EAAF40B43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65236-02FD-5B4A-A893-776EC79D9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E5AD-DBE0-77B1-5B65-3F3E4C7C8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E8EB7-A4D4-8143-BDE4-C7382282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FE07-B91E-419A-9671-F1CE953221AB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B5C99-2119-FF4C-7D4A-E1F6B5AA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DAE77-9067-18D5-33CF-DAD1D1D7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4360-F498-BAE1-9BCD-AA68762D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8D7D2-63F0-FC6D-0058-8901CFBE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0413-7B06-43DE-A126-F2ECE2698D13}" type="datetime1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733CD-FB7F-2FD4-CF42-074C1624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876A2-633E-783C-71C9-9DB23F6B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0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0CB15-5C98-95CF-BF5A-FBA9E892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7467-C690-44DA-9881-1D396FC4593C}" type="datetime1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F6063-4D2B-8122-6EF1-22FAFF1C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62276-1AD5-A33A-DC18-048C505B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2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F07D-D8BB-1344-1F8A-2C1CF871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CC5B-0481-5B99-9665-B0F385D6A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615DE-0000-AB50-C1A8-7C6CAB119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27468-CC3B-D72F-1FD7-4B05A1DE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C1A5-A022-4570-BC1D-92BD05847483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59A28-2AD7-709F-15B1-BC1DD4E9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6E017-7156-F7C9-2AB3-A976826A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1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6130-39DA-2E55-7853-5AB908EC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228C6-2A22-47AE-2934-CD06A3ECD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6E28C-B0F0-79E9-67F5-C695F8D1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0B80F-AED6-E198-5C25-7E76C7EB1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B927-21BA-4268-B0AC-BDB8B74E1DE0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8391D-9DA3-05EF-D154-616EC4799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AC56B-F313-87BE-8F8C-74978D4C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3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B10B-2653-7A3F-8761-8FE8078D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B259D-C05E-859F-A8DC-EEFB6071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439E-119E-7D21-5B47-4D2B1206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0D8E-6849-4533-B748-D383D7E895A1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94589-4363-0552-7846-BC80DB08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57FF8-B50B-0B63-0922-D3A8EFE3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6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5666E-0912-FB5E-DCA4-0B5CA5F0A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28243-AE4A-33A8-80F6-2AB65BD85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97F7-8827-6377-C4D9-92AD9ED5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530E-23DB-4166-AD11-D3EAD86AA262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CC40-72E8-391A-D216-17612DAC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63E37-965B-9413-4240-5062201A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7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DE951-014B-54A3-79BF-C552C2F8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BB038-F383-FFE2-F737-FEE51221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9A06A-7D79-C38E-545B-25E86CF96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3758A-747B-4BAD-B59C-F973C8BF5468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2128-AD42-E193-B9B6-206870BA7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B1443-A1E2-6774-EB24-559518E1A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FD10D-0C69-6C4D-983B-EBA131D0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2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1.jpe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3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EF41C-C80D-FDA4-0666-8FB05936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412694C-08A9-22C2-2105-B3DDDB2F4B1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856" y="0"/>
            <a:ext cx="12205857" cy="1030288"/>
            <a:chOff x="-13856" y="0"/>
            <a:chExt cx="12205857" cy="103028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9DCEEC-E54C-576F-B7BF-DC11DC74C6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05" y="0"/>
              <a:ext cx="12194706" cy="878305"/>
            </a:xfrm>
            <a:prstGeom prst="rect">
              <a:avLst/>
            </a:prstGeom>
            <a:solidFill>
              <a:schemeClr val="bg1">
                <a:lumMod val="8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7B64715-DCF2-5005-9C42-FFC16B8BE7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3187148" cy="148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7B51001-8B85-2D3A-8361-E0647122A0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3856" y="729780"/>
              <a:ext cx="5221476" cy="300508"/>
            </a:xfrm>
            <a:prstGeom prst="rect">
              <a:avLst/>
            </a:prstGeom>
            <a:solidFill>
              <a:schemeClr val="bg1">
                <a:lumMod val="85000"/>
                <a:alpha val="6601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B6F61FD-8EC7-2551-A5AB-80F5BF68E0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629BE0-1A46-DF6A-9A66-3BFB6A7BF45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856" y="5915860"/>
            <a:ext cx="12205856" cy="961801"/>
            <a:chOff x="-13856" y="5915860"/>
            <a:chExt cx="12205856" cy="9618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C13167-5A42-C89A-5B67-E68DDAC8CB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3856" y="6266985"/>
              <a:ext cx="4452041" cy="610676"/>
            </a:xfrm>
            <a:prstGeom prst="rect">
              <a:avLst/>
            </a:prstGeom>
            <a:solidFill>
              <a:schemeClr val="bg1">
                <a:lumMod val="75000"/>
                <a:alpha val="6601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61B0D7F-3149-B4A8-9FA7-DD7230425F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7143" y="5915860"/>
              <a:ext cx="10224857" cy="942139"/>
            </a:xfrm>
            <a:custGeom>
              <a:avLst/>
              <a:gdLst>
                <a:gd name="connsiteX0" fmla="*/ 0 w 10224857"/>
                <a:gd name="connsiteY0" fmla="*/ 210818 h 942139"/>
                <a:gd name="connsiteX1" fmla="*/ 10224857 w 10224857"/>
                <a:gd name="connsiteY1" fmla="*/ 210818 h 942139"/>
                <a:gd name="connsiteX2" fmla="*/ 10224857 w 10224857"/>
                <a:gd name="connsiteY2" fmla="*/ 942139 h 942139"/>
                <a:gd name="connsiteX3" fmla="*/ 0 w 10224857"/>
                <a:gd name="connsiteY3" fmla="*/ 942139 h 942139"/>
                <a:gd name="connsiteX4" fmla="*/ 7233 w 10224857"/>
                <a:gd name="connsiteY4" fmla="*/ 0 h 942139"/>
                <a:gd name="connsiteX5" fmla="*/ 5524419 w 10224857"/>
                <a:gd name="connsiteY5" fmla="*/ 0 h 942139"/>
                <a:gd name="connsiteX6" fmla="*/ 5524419 w 10224857"/>
                <a:gd name="connsiteY6" fmla="*/ 210817 h 942139"/>
                <a:gd name="connsiteX7" fmla="*/ 7233 w 10224857"/>
                <a:gd name="connsiteY7" fmla="*/ 210817 h 94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4857" h="942139">
                  <a:moveTo>
                    <a:pt x="0" y="210818"/>
                  </a:moveTo>
                  <a:lnTo>
                    <a:pt x="10224857" y="210818"/>
                  </a:lnTo>
                  <a:lnTo>
                    <a:pt x="10224857" y="942139"/>
                  </a:lnTo>
                  <a:lnTo>
                    <a:pt x="0" y="942139"/>
                  </a:lnTo>
                  <a:close/>
                  <a:moveTo>
                    <a:pt x="7233" y="0"/>
                  </a:moveTo>
                  <a:lnTo>
                    <a:pt x="5524419" y="0"/>
                  </a:lnTo>
                  <a:lnTo>
                    <a:pt x="5524419" y="210817"/>
                  </a:lnTo>
                  <a:lnTo>
                    <a:pt x="7233" y="210817"/>
                  </a:lnTo>
                  <a:close/>
                </a:path>
              </a:pathLst>
            </a:custGeom>
            <a:solidFill>
              <a:schemeClr val="bg1">
                <a:lumMod val="85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45FC46-A96B-2F59-6137-2FFFEEF838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51944" y="6560288"/>
              <a:ext cx="5940056" cy="297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D809315F-708E-DF0A-B7CC-77700C325E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7ED3A5B-F865-3C97-3728-C69243298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648" y="4308383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91E40"/>
                </a:solidFill>
              </a:rPr>
              <a:t>Thiago Bandeira | Track: Business Analytics </a:t>
            </a:r>
          </a:p>
          <a:p>
            <a:r>
              <a:rPr lang="en-US" dirty="0">
                <a:solidFill>
                  <a:srgbClr val="091E40"/>
                </a:solidFill>
              </a:rPr>
              <a:t>Armando Gonzalez | Track: Artificial Intelligence</a:t>
            </a:r>
          </a:p>
          <a:p>
            <a:r>
              <a:rPr lang="en-US" dirty="0">
                <a:solidFill>
                  <a:srgbClr val="091E40"/>
                </a:solidFill>
              </a:rPr>
              <a:t>Mentor: Christian </a:t>
            </a:r>
            <a:r>
              <a:rPr lang="en-US" dirty="0" err="1">
                <a:solidFill>
                  <a:srgbClr val="091E40"/>
                </a:solidFill>
              </a:rPr>
              <a:t>Poellabauer</a:t>
            </a:r>
            <a:endParaRPr lang="en-US" dirty="0">
              <a:solidFill>
                <a:srgbClr val="091E40"/>
              </a:solidFill>
            </a:endParaRPr>
          </a:p>
          <a:p>
            <a:r>
              <a:rPr lang="en-US" dirty="0">
                <a:solidFill>
                  <a:srgbClr val="091E40"/>
                </a:solidFill>
              </a:rPr>
              <a:t>April 13</a:t>
            </a:r>
            <a:r>
              <a:rPr lang="en-US" baseline="30000" dirty="0">
                <a:solidFill>
                  <a:srgbClr val="091E40"/>
                </a:solidFill>
              </a:rPr>
              <a:t>th</a:t>
            </a:r>
            <a:r>
              <a:rPr lang="en-US" dirty="0">
                <a:solidFill>
                  <a:srgbClr val="091E40"/>
                </a:solidFill>
              </a:rPr>
              <a:t> , 2026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14C12F-165C-7290-9B09-E9270D5AC000}"/>
              </a:ext>
            </a:extLst>
          </p:cNvPr>
          <p:cNvSpPr txBox="1">
            <a:spLocks/>
          </p:cNvSpPr>
          <p:nvPr/>
        </p:nvSpPr>
        <p:spPr>
          <a:xfrm>
            <a:off x="1522648" y="158321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Predicting 30-Day Hospital Readmission in Medicare Patients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FDE209-481A-7C5C-083F-5B86E795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253C5-EC80-404D-3CF2-960A6F810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A3BC-0376-0F01-CCA8-FD12A9F86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41B4D-A5C3-72A8-74B0-80296D790D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D49C2A10-B77B-2F6F-E928-7DEBE98AE5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8F74528-6723-4638-BB64-293C13031F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C49E17-E074-FE9E-1B67-4882D7B84A1D}"/>
              </a:ext>
            </a:extLst>
          </p:cNvPr>
          <p:cNvSpPr txBox="1">
            <a:spLocks/>
          </p:cNvSpPr>
          <p:nvPr/>
        </p:nvSpPr>
        <p:spPr>
          <a:xfrm>
            <a:off x="838200" y="1039378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Motivation &amp; Background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D1B3BD2-69FF-8B17-A390-307AB892CE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0114" y="2210535"/>
            <a:ext cx="776673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30-day readmissions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a major healthcare challenge, linked to high costs and poorer outcomes.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Medicare beneficiaries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(age 65+) are particularly vulnerable to readmissions.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readmissions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key national priority, reinforced by CMS through the Hospital Readmissions Reduction Program (HRRP).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prediction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discharge can help primary care providers identify at-risk patients early and enable timely interventions.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6675F-072E-82FF-EF83-3A0AB73348E6}"/>
              </a:ext>
            </a:extLst>
          </p:cNvPr>
          <p:cNvSpPr txBox="1"/>
          <p:nvPr/>
        </p:nvSpPr>
        <p:spPr>
          <a:xfrm>
            <a:off x="2098478" y="6578599"/>
            <a:ext cx="8323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Source:</a:t>
            </a:r>
            <a:r>
              <a:rPr lang="en-US" sz="1200" dirty="0"/>
              <a:t> Centers for Medicare &amp; Medicaid Services (CMS), Hospital Readmissions Reduction Program.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E1EE9-9A2D-3977-A4F5-F34FC4D9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2DBBCF-23A1-F391-74E4-065387C3A176}"/>
              </a:ext>
            </a:extLst>
          </p:cNvPr>
          <p:cNvGrpSpPr/>
          <p:nvPr/>
        </p:nvGrpSpPr>
        <p:grpSpPr>
          <a:xfrm>
            <a:off x="8806649" y="2909283"/>
            <a:ext cx="2985237" cy="2470585"/>
            <a:chOff x="450047" y="2251804"/>
            <a:chExt cx="2595675" cy="1554480"/>
          </a:xfrm>
        </p:grpSpPr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DF56B1BF-F743-A93F-9F5D-6C1EA7982150}"/>
                </a:ext>
              </a:extLst>
            </p:cNvPr>
            <p:cNvSpPr/>
            <p:nvPr/>
          </p:nvSpPr>
          <p:spPr>
            <a:xfrm>
              <a:off x="450047" y="2251804"/>
              <a:ext cx="256032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A6A2E540-A616-E619-2EF5-0650E6E9A2DB}"/>
                </a:ext>
              </a:extLst>
            </p:cNvPr>
            <p:cNvSpPr/>
            <p:nvPr/>
          </p:nvSpPr>
          <p:spPr>
            <a:xfrm>
              <a:off x="467725" y="2251804"/>
              <a:ext cx="2560320" cy="54864"/>
            </a:xfrm>
            <a:prstGeom prst="rect">
              <a:avLst/>
            </a:prstGeom>
            <a:solidFill>
              <a:srgbClr val="091E4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E4B8DD60-42EC-879E-5D0E-1B925B221BFA}"/>
                </a:ext>
              </a:extLst>
            </p:cNvPr>
            <p:cNvSpPr/>
            <p:nvPr/>
          </p:nvSpPr>
          <p:spPr>
            <a:xfrm>
              <a:off x="485402" y="2433163"/>
              <a:ext cx="25603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400" b="1" dirty="0">
                  <a:solidFill>
                    <a:srgbClr val="B686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$26B+</a:t>
              </a:r>
              <a:endParaRPr lang="en-US" sz="4400" dirty="0">
                <a:solidFill>
                  <a:srgbClr val="B6862C"/>
                </a:solidFill>
              </a:endParaRPr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5F33B571-C2F8-DBC9-0A94-04D870F407F1}"/>
                </a:ext>
              </a:extLst>
            </p:cNvPr>
            <p:cNvSpPr/>
            <p:nvPr/>
          </p:nvSpPr>
          <p:spPr>
            <a:xfrm>
              <a:off x="467725" y="3120979"/>
              <a:ext cx="2560319" cy="3266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cost of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unplanned readmissions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81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6E53A-19B9-148D-7D9D-7CD8B082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542-DF6C-052A-0D03-5BBABEEED1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D6384-2632-D967-0289-75D40775C0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6869B5F6-67BB-8BB9-81F8-FF7A9F9B3C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18C0FD1-8A1F-7801-3ED5-C0C3A7B182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1F52742-3EBA-9E3E-EC4C-827456028A1C}"/>
              </a:ext>
            </a:extLst>
          </p:cNvPr>
          <p:cNvSpPr txBox="1">
            <a:spLocks/>
          </p:cNvSpPr>
          <p:nvPr/>
        </p:nvSpPr>
        <p:spPr>
          <a:xfrm>
            <a:off x="1282438" y="1232492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Problem Definition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C646855-2115-C49E-25B0-F6978E83D3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6208" y="2557681"/>
            <a:ext cx="84473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Challenge: </a:t>
            </a:r>
            <a:r>
              <a:rPr lang="en-US" altLang="en-US" sz="2000" dirty="0">
                <a:latin typeface="Arial" panose="020B0604020202020204" pitchFamily="34" charset="0"/>
              </a:rPr>
              <a:t>Identifying Medicare patients at highest risk of 30-day readmission is difficult at the time of discharge.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Goal: </a:t>
            </a:r>
            <a:r>
              <a:rPr lang="en-US" altLang="en-US" sz="2000" dirty="0">
                <a:latin typeface="Arial" panose="020B0604020202020204" pitchFamily="34" charset="0"/>
              </a:rPr>
              <a:t>Develop a predictive model using MIMIC-IV v3.1 dataset to assess readmission risk for Medicare beneficiaries.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Outcome: </a:t>
            </a:r>
            <a:r>
              <a:rPr lang="en-US" altLang="en-US" sz="2000" dirty="0">
                <a:latin typeface="Arial" panose="020B0604020202020204" pitchFamily="34" charset="0"/>
              </a:rPr>
              <a:t>Deliver an interpretable risk-scoring tool that supports primary care providers with targeted interventions.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Impact: </a:t>
            </a:r>
            <a:r>
              <a:rPr lang="en-US" altLang="en-US" sz="2000" dirty="0">
                <a:latin typeface="Arial" panose="020B0604020202020204" pitchFamily="34" charset="0"/>
              </a:rPr>
              <a:t>Missed risk predictions → avoidable hospitalizations, higher costs, poorer patient outcomes.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6227C1-829A-0EB8-BA88-17ABE963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0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CF372-F95A-AC9D-F141-0A052E9D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CDBD-B73B-F200-73CD-42221D70A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8472E-ABEC-11B3-DCDD-F7C93D2AB8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37C4E561-6996-9CFF-A972-17894FAFFA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C8FD505-B367-2C28-70C8-E1C45B2DB5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9AA44D-65B0-2731-E236-A241CB2E84E9}"/>
              </a:ext>
            </a:extLst>
          </p:cNvPr>
          <p:cNvSpPr txBox="1">
            <a:spLocks/>
          </p:cNvSpPr>
          <p:nvPr/>
        </p:nvSpPr>
        <p:spPr>
          <a:xfrm>
            <a:off x="1103143" y="1352754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Research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89CA98-8194-EF87-58E8-3B5C6C0B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61F31E-08CC-03CD-A514-ED097ECE4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36110"/>
            <a:ext cx="8902437" cy="271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800" b="1" dirty="0"/>
              <a:t>RQ1: </a:t>
            </a:r>
            <a:r>
              <a:rPr lang="en-US" sz="1800" dirty="0"/>
              <a:t>Which </a:t>
            </a:r>
            <a:r>
              <a:rPr lang="en-US" sz="1800" b="1" dirty="0"/>
              <a:t>features</a:t>
            </a:r>
            <a:r>
              <a:rPr lang="en-US" sz="1800" dirty="0"/>
              <a:t> are </a:t>
            </a:r>
            <a:r>
              <a:rPr lang="en-US" sz="1800" b="1" dirty="0"/>
              <a:t>most predictive </a:t>
            </a:r>
            <a:r>
              <a:rPr lang="en-US" sz="1800" dirty="0"/>
              <a:t>of </a:t>
            </a:r>
            <a:r>
              <a:rPr lang="en-US" sz="1800" b="1" dirty="0"/>
              <a:t>30-day readmissions </a:t>
            </a:r>
            <a:r>
              <a:rPr lang="en-US" sz="1800" dirty="0"/>
              <a:t>in Medicare beneficiaries?</a:t>
            </a:r>
          </a:p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800" b="1" dirty="0"/>
              <a:t>RQ2: </a:t>
            </a:r>
            <a:r>
              <a:rPr lang="en-US" sz="1800" dirty="0"/>
              <a:t>Which </a:t>
            </a:r>
            <a:r>
              <a:rPr lang="en-US" sz="1800" b="1" dirty="0"/>
              <a:t>modeling approach </a:t>
            </a:r>
            <a:r>
              <a:rPr lang="en-US" sz="1800" dirty="0"/>
              <a:t>(statistical, boosting, deep learning, or ensemble) achieves the </a:t>
            </a:r>
            <a:r>
              <a:rPr lang="en-US" sz="1800" b="1" dirty="0"/>
              <a:t>best predictive performance</a:t>
            </a:r>
            <a:r>
              <a:rPr lang="en-US" sz="1800" dirty="0"/>
              <a:t>?</a:t>
            </a:r>
          </a:p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800" b="1" dirty="0"/>
              <a:t>RQ3: </a:t>
            </a:r>
            <a:r>
              <a:rPr lang="en-US" sz="1800" dirty="0"/>
              <a:t>Can </a:t>
            </a:r>
            <a:r>
              <a:rPr lang="en-US" sz="1800" b="1" dirty="0"/>
              <a:t>interpretable ML methods </a:t>
            </a:r>
            <a:r>
              <a:rPr lang="en-US" sz="1800" dirty="0"/>
              <a:t>(e.g., SHAP) provide </a:t>
            </a:r>
            <a:r>
              <a:rPr lang="en-US" sz="1800" b="1" dirty="0"/>
              <a:t>actionable insights </a:t>
            </a:r>
            <a:r>
              <a:rPr lang="en-US" sz="1800" dirty="0"/>
              <a:t>for </a:t>
            </a:r>
            <a:r>
              <a:rPr lang="en-US" sz="1800" b="1" dirty="0"/>
              <a:t>primary care providers </a:t>
            </a:r>
            <a:r>
              <a:rPr lang="en-US" sz="1800" dirty="0"/>
              <a:t>at discharge?</a:t>
            </a:r>
          </a:p>
        </p:txBody>
      </p:sp>
    </p:spTree>
    <p:extLst>
      <p:ext uri="{BB962C8B-B14F-4D97-AF65-F5344CB8AC3E}">
        <p14:creationId xmlns:p14="http://schemas.microsoft.com/office/powerpoint/2010/main" val="138917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BF6CB-210C-2737-BB69-2B225957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EE28-5A3E-30A7-439B-0DE72628F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26E99-43F3-954C-B7FA-930351693B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0B97E9FB-1E67-2631-9174-8ECB93C81D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2A667EE-CF47-3171-0928-82BCC73985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084A615-5A94-4BA4-0DEA-78D8EEA7892C}"/>
              </a:ext>
            </a:extLst>
          </p:cNvPr>
          <p:cNvSpPr txBox="1">
            <a:spLocks/>
          </p:cNvSpPr>
          <p:nvPr/>
        </p:nvSpPr>
        <p:spPr>
          <a:xfrm>
            <a:off x="1282438" y="1005588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Dataset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D6331AD-8D25-8406-5F81-74836BAD63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3806" y="2524269"/>
            <a:ext cx="7637901" cy="2944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/>
              <a:t>Source: </a:t>
            </a:r>
            <a:r>
              <a:rPr lang="en-US" altLang="en-US" sz="2000" dirty="0"/>
              <a:t>MIMIC-IV v3.1 (PhysioNet) from Beth Israel Deaconess Medical Center, Boston, MA.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/>
              <a:t>Full Dataset</a:t>
            </a:r>
            <a:r>
              <a:rPr lang="en-US" altLang="en-US" sz="2000" dirty="0"/>
              <a:t>: </a:t>
            </a:r>
            <a:r>
              <a:rPr lang="en-US" sz="2000" dirty="0"/>
              <a:t>546,028 admissions with 305 raw features.  </a:t>
            </a:r>
            <a:endParaRPr lang="en-US" altLang="en-US" sz="20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/>
              <a:t>Cohort</a:t>
            </a:r>
            <a:r>
              <a:rPr lang="en-US" sz="2000" dirty="0"/>
              <a:t>: 244,576 Medicare admissions (insurance == Medicare)</a:t>
            </a:r>
          </a:p>
          <a:p>
            <a:pPr marL="34290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altLang="en-US" sz="2000" b="1" dirty="0"/>
              <a:t>Target: </a:t>
            </a:r>
            <a:r>
              <a:rPr lang="en-US" sz="2000" dirty="0">
                <a:latin typeface="Arial" panose="020B0604020202020204" pitchFamily="34" charset="0"/>
              </a:rPr>
              <a:t>readmit_30d (binary) (21.1% positive rate)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01361-0C58-0BEE-DD03-1A005ABAD66E}"/>
              </a:ext>
            </a:extLst>
          </p:cNvPr>
          <p:cNvSpPr txBox="1"/>
          <p:nvPr/>
        </p:nvSpPr>
        <p:spPr>
          <a:xfrm>
            <a:off x="2344011" y="6581001"/>
            <a:ext cx="8323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Source</a:t>
            </a:r>
            <a:r>
              <a:rPr lang="en-US" sz="1200" dirty="0"/>
              <a:t>: Johnson et al</a:t>
            </a:r>
            <a:r>
              <a:rPr lang="en-US" sz="1200" i="1" dirty="0"/>
              <a:t>., </a:t>
            </a:r>
            <a:r>
              <a:rPr lang="en-US" sz="1200" dirty="0"/>
              <a:t>“MIMIC-IV, a freely accessible electronic health record dataset,” </a:t>
            </a:r>
            <a:r>
              <a:rPr lang="en-US" sz="1200" i="1" dirty="0"/>
              <a:t>Scientific Data</a:t>
            </a:r>
            <a:r>
              <a:rPr lang="en-US" sz="1200" dirty="0"/>
              <a:t>, 2023.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A009D-569E-858B-745F-DC4D68F1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99A264-69EB-3704-7DD2-0AB80EC1D51D}"/>
              </a:ext>
            </a:extLst>
          </p:cNvPr>
          <p:cNvGrpSpPr/>
          <p:nvPr/>
        </p:nvGrpSpPr>
        <p:grpSpPr>
          <a:xfrm>
            <a:off x="8610599" y="2249551"/>
            <a:ext cx="2919600" cy="3228677"/>
            <a:chOff x="9146278" y="2538843"/>
            <a:chExt cx="2560321" cy="3200400"/>
          </a:xfrm>
        </p:grpSpPr>
        <p:sp>
          <p:nvSpPr>
            <p:cNvPr id="9" name="Shape 17">
              <a:extLst>
                <a:ext uri="{FF2B5EF4-FFF2-40B4-BE49-F238E27FC236}">
                  <a16:creationId xmlns:a16="http://schemas.microsoft.com/office/drawing/2014/main" id="{769FDBAF-D376-89DE-7935-1A0D25E50DC2}"/>
                </a:ext>
              </a:extLst>
            </p:cNvPr>
            <p:cNvSpPr/>
            <p:nvPr/>
          </p:nvSpPr>
          <p:spPr>
            <a:xfrm>
              <a:off x="9146279" y="2538843"/>
              <a:ext cx="2560320" cy="3200400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18">
              <a:extLst>
                <a:ext uri="{FF2B5EF4-FFF2-40B4-BE49-F238E27FC236}">
                  <a16:creationId xmlns:a16="http://schemas.microsoft.com/office/drawing/2014/main" id="{91FB6E92-1A82-9E65-A8C2-09529D8EB8A3}"/>
                </a:ext>
              </a:extLst>
            </p:cNvPr>
            <p:cNvSpPr/>
            <p:nvPr/>
          </p:nvSpPr>
          <p:spPr>
            <a:xfrm>
              <a:off x="9146278" y="2630283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B686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Clinical Modules</a:t>
              </a:r>
              <a:endParaRPr lang="en-US" sz="1600" dirty="0">
                <a:solidFill>
                  <a:srgbClr val="B6862C"/>
                </a:solidFill>
              </a:endParaRPr>
            </a:p>
          </p:txBody>
        </p:sp>
        <p:sp>
          <p:nvSpPr>
            <p:cNvPr id="11" name="Text 19">
              <a:extLst>
                <a:ext uri="{FF2B5EF4-FFF2-40B4-BE49-F238E27FC236}">
                  <a16:creationId xmlns:a16="http://schemas.microsoft.com/office/drawing/2014/main" id="{94EC66B3-C7DD-5B9A-86CE-7D3618E75AF6}"/>
                </a:ext>
              </a:extLst>
            </p:cNvPr>
            <p:cNvSpPr/>
            <p:nvPr/>
          </p:nvSpPr>
          <p:spPr>
            <a:xfrm>
              <a:off x="9420598" y="3041763"/>
              <a:ext cx="2103120" cy="2560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Admissions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Diagnoses (ICD-9/10)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Procedures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DRG Codes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Prescriptions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 Events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Vital Signs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ICU Stays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Transfers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Microbiology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9878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2E9A5-DB7D-D973-D6F1-9A163788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CA8B-7581-07F8-FF0A-39D5B8AEE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1850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B6E42-5B6C-A6AD-DE50-C9BD48CA00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9A6001AC-1EC5-877B-7409-FE6536EFB9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B9A6FBC-2E39-2F4D-0846-CEF30132D7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5C63CB-A373-551C-146D-84B2F993C3F4}"/>
              </a:ext>
            </a:extLst>
          </p:cNvPr>
          <p:cNvSpPr txBox="1">
            <a:spLocks/>
          </p:cNvSpPr>
          <p:nvPr/>
        </p:nvSpPr>
        <p:spPr>
          <a:xfrm>
            <a:off x="850638" y="1027669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Exploratory Data Analysis (EDA)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61BAB60-4BBF-E41D-E0CA-4CE02385EB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082" y="2415560"/>
            <a:ext cx="588106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Dataset is imbalanced: 21.1% of admissions were readmitted within 30 days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Imbalance justifies using </a:t>
            </a:r>
            <a:r>
              <a:rPr lang="en-US" sz="2000" b="1" dirty="0"/>
              <a:t>AUC-ROC</a:t>
            </a:r>
            <a:r>
              <a:rPr lang="en-US" altLang="en-US" sz="2000" b="1" dirty="0"/>
              <a:t> </a:t>
            </a:r>
            <a:r>
              <a:rPr lang="en-US" altLang="en-US" sz="2000" dirty="0"/>
              <a:t>and calibrated probabilities instead of accuracy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Feature distributions (age, </a:t>
            </a:r>
            <a:r>
              <a:rPr lang="en-US" sz="2000" dirty="0">
                <a:solidFill>
                  <a:srgbClr val="091E40"/>
                </a:solidFill>
              </a:rPr>
              <a:t>Length of Stay (LOS),</a:t>
            </a:r>
            <a:r>
              <a:rPr lang="en-US" sz="2000" dirty="0"/>
              <a:t> comorbidities, meds) show broad clinical variability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No strong multicollinearity detected among baseline features (not shown for simplicity)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151B9-B924-6FA1-0701-BED58895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03400-A749-9F49-31A8-E1A4679D0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749" y="2261671"/>
            <a:ext cx="5014301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31E89-9998-695B-27A5-D34935CB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3EF8-CA48-2712-A947-011B2121B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1850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94C97-8816-706A-77A0-8FC2586F76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5596E96E-A471-F968-785D-150E269F07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0C0C70-F6DD-D965-1A5B-4A00B10854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D62776-F4FF-8FB8-FC2B-79E05F0BE2D6}"/>
              </a:ext>
            </a:extLst>
          </p:cNvPr>
          <p:cNvSpPr txBox="1">
            <a:spLocks/>
          </p:cNvSpPr>
          <p:nvPr/>
        </p:nvSpPr>
        <p:spPr>
          <a:xfrm>
            <a:off x="850638" y="1027669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Exploratory Data Analysis (EDA)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755E3-7599-CB27-E6AB-39D48C0A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E35BB5-5039-D2F4-509C-23E99F90679E}"/>
              </a:ext>
            </a:extLst>
          </p:cNvPr>
          <p:cNvGrpSpPr/>
          <p:nvPr/>
        </p:nvGrpSpPr>
        <p:grpSpPr>
          <a:xfrm>
            <a:off x="3543554" y="2243425"/>
            <a:ext cx="8407455" cy="4356624"/>
            <a:chOff x="457200" y="1362221"/>
            <a:chExt cx="8263801" cy="3652046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E8FF10A9-3A7D-C391-DA8F-C109A6494E60}"/>
                </a:ext>
              </a:extLst>
            </p:cNvPr>
            <p:cNvSpPr/>
            <p:nvPr/>
          </p:nvSpPr>
          <p:spPr>
            <a:xfrm>
              <a:off x="491401" y="1362221"/>
              <a:ext cx="8229600" cy="32918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7477A31D-DF76-4FC2-3C30-C68621F6158F}"/>
                </a:ext>
              </a:extLst>
            </p:cNvPr>
            <p:cNvSpPr/>
            <p:nvPr/>
          </p:nvSpPr>
          <p:spPr>
            <a:xfrm>
              <a:off x="640080" y="1417320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7B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Readmission Rate by Discharge Destination</a:t>
              </a:r>
              <a:endParaRPr lang="en-US" sz="14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FE4C99EE-7C0B-5657-EA85-CA8963DA651F}"/>
                </a:ext>
              </a:extLst>
            </p:cNvPr>
            <p:cNvSpPr/>
            <p:nvPr/>
          </p:nvSpPr>
          <p:spPr>
            <a:xfrm>
              <a:off x="5029200" y="141732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 = number of admissions  |  Overall cohort rate: 21.1%</a:t>
              </a:r>
              <a:endParaRPr lang="en-US" sz="1050" dirty="0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5EAC69FF-AE1D-BFC4-E72D-ADF8EA526919}"/>
                </a:ext>
              </a:extLst>
            </p:cNvPr>
            <p:cNvSpPr/>
            <p:nvPr/>
          </p:nvSpPr>
          <p:spPr>
            <a:xfrm>
              <a:off x="4497185" y="1828800"/>
              <a:ext cx="13716" cy="2848356"/>
            </a:xfrm>
            <a:prstGeom prst="rect">
              <a:avLst/>
            </a:prstGeom>
            <a:solidFill>
              <a:srgbClr val="6B7B8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87730570-B930-C1CF-A65C-73A87CAD127E}"/>
                </a:ext>
              </a:extLst>
            </p:cNvPr>
            <p:cNvSpPr/>
            <p:nvPr/>
          </p:nvSpPr>
          <p:spPr>
            <a:xfrm>
              <a:off x="4040608" y="4694227"/>
              <a:ext cx="92687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21.1%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cohort avg</a:t>
              </a:r>
              <a:endParaRPr lang="en-US" sz="1100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0746B2F3-28A4-51C8-0E0E-2BC8799F2102}"/>
                </a:ext>
              </a:extLst>
            </p:cNvPr>
            <p:cNvSpPr/>
            <p:nvPr/>
          </p:nvSpPr>
          <p:spPr>
            <a:xfrm>
              <a:off x="640080" y="1874520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Psych Facility</a:t>
              </a:r>
              <a:endParaRPr lang="en-US" sz="1200" b="1" dirty="0"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487BA71A-37BA-8CCD-C93D-4ED5AA29BA78}"/>
                </a:ext>
              </a:extLst>
            </p:cNvPr>
            <p:cNvSpPr/>
            <p:nvPr/>
          </p:nvSpPr>
          <p:spPr>
            <a:xfrm>
              <a:off x="2743200" y="1892808"/>
              <a:ext cx="4181302" cy="201168"/>
            </a:xfrm>
            <a:prstGeom prst="rect">
              <a:avLst/>
            </a:prstGeom>
            <a:solidFill>
              <a:srgbClr val="E8636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9453B62A-798D-AEEB-5B0C-5F187BBDDBA2}"/>
                </a:ext>
              </a:extLst>
            </p:cNvPr>
            <p:cNvSpPr/>
            <p:nvPr/>
          </p:nvSpPr>
          <p:spPr>
            <a:xfrm>
              <a:off x="6997654" y="1874520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63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50.3%</a:t>
              </a:r>
              <a:endParaRPr lang="en-US" sz="1100" dirty="0"/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D1D30C78-6C0B-4FC3-270C-D5B985785E19}"/>
                </a:ext>
              </a:extLst>
            </p:cNvPr>
            <p:cNvSpPr/>
            <p:nvPr/>
          </p:nvSpPr>
          <p:spPr>
            <a:xfrm>
              <a:off x="7473142" y="1874520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(n=1,049)</a:t>
              </a:r>
              <a:endParaRPr lang="en-US" sz="1000" dirty="0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DA6AEFC2-0B46-B66D-35EF-A8B9AF709927}"/>
                </a:ext>
              </a:extLst>
            </p:cNvPr>
            <p:cNvSpPr/>
            <p:nvPr/>
          </p:nvSpPr>
          <p:spPr>
            <a:xfrm>
              <a:off x="640080" y="2180844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Against Medical Advice</a:t>
              </a:r>
              <a:endParaRPr lang="en-US" sz="1200" b="1" dirty="0"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CB054FB8-0F87-0D9F-6281-36A40A6BB68F}"/>
                </a:ext>
              </a:extLst>
            </p:cNvPr>
            <p:cNvSpPr/>
            <p:nvPr/>
          </p:nvSpPr>
          <p:spPr>
            <a:xfrm>
              <a:off x="2743200" y="2199132"/>
              <a:ext cx="3017520" cy="201168"/>
            </a:xfrm>
            <a:prstGeom prst="rect">
              <a:avLst/>
            </a:prstGeom>
            <a:solidFill>
              <a:srgbClr val="E8636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9FCCB826-C993-26B1-8007-354FE5DF8B08}"/>
                </a:ext>
              </a:extLst>
            </p:cNvPr>
            <p:cNvSpPr/>
            <p:nvPr/>
          </p:nvSpPr>
          <p:spPr>
            <a:xfrm>
              <a:off x="5833872" y="2180844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63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36.3%</a:t>
              </a:r>
              <a:endParaRPr lang="en-US" sz="1100" dirty="0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17D0928B-BCFB-BCA7-3619-921CB624055D}"/>
                </a:ext>
              </a:extLst>
            </p:cNvPr>
            <p:cNvSpPr/>
            <p:nvPr/>
          </p:nvSpPr>
          <p:spPr>
            <a:xfrm>
              <a:off x="6309360" y="2180844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(n=1,060)</a:t>
              </a:r>
              <a:endParaRPr lang="en-US" sz="10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4810E8DF-0578-48AE-A959-0D51FA683895}"/>
                </a:ext>
              </a:extLst>
            </p:cNvPr>
            <p:cNvSpPr/>
            <p:nvPr/>
          </p:nvSpPr>
          <p:spPr>
            <a:xfrm>
              <a:off x="640080" y="2487168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Acute Hospital Transfer</a:t>
              </a:r>
              <a:endParaRPr lang="en-US" sz="1200" b="1" dirty="0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1347E78D-69C3-F101-F729-E9FDDD8436BE}"/>
                </a:ext>
              </a:extLst>
            </p:cNvPr>
            <p:cNvSpPr/>
            <p:nvPr/>
          </p:nvSpPr>
          <p:spPr>
            <a:xfrm>
              <a:off x="2743200" y="2505456"/>
              <a:ext cx="2768138" cy="201168"/>
            </a:xfrm>
            <a:prstGeom prst="rect">
              <a:avLst/>
            </a:prstGeom>
            <a:solidFill>
              <a:srgbClr val="E8636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C532AB09-815C-C1D1-838C-CA25E486BE49}"/>
                </a:ext>
              </a:extLst>
            </p:cNvPr>
            <p:cNvSpPr/>
            <p:nvPr/>
          </p:nvSpPr>
          <p:spPr>
            <a:xfrm>
              <a:off x="5584490" y="2487168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63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33.3%</a:t>
              </a:r>
              <a:endParaRPr lang="en-US" sz="1100" dirty="0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BB6B612E-31F4-A865-BCBF-2B9DF6C9F953}"/>
                </a:ext>
              </a:extLst>
            </p:cNvPr>
            <p:cNvSpPr/>
            <p:nvPr/>
          </p:nvSpPr>
          <p:spPr>
            <a:xfrm>
              <a:off x="6059978" y="2487168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(n=1,204)</a:t>
              </a:r>
              <a:endParaRPr lang="en-US" sz="10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1801545B-A764-051E-823B-CFAF8FF6740E}"/>
                </a:ext>
              </a:extLst>
            </p:cNvPr>
            <p:cNvSpPr/>
            <p:nvPr/>
          </p:nvSpPr>
          <p:spPr>
            <a:xfrm>
              <a:off x="640080" y="2793492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Chronic/LTAC</a:t>
              </a:r>
              <a:endParaRPr lang="en-US" sz="1200" b="1" dirty="0"/>
            </a:p>
          </p:txBody>
        </p:sp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9FF4CA30-5576-A750-B4C1-42E59FB938B0}"/>
                </a:ext>
              </a:extLst>
            </p:cNvPr>
            <p:cNvSpPr/>
            <p:nvPr/>
          </p:nvSpPr>
          <p:spPr>
            <a:xfrm>
              <a:off x="2743200" y="2811780"/>
              <a:ext cx="2277687" cy="201168"/>
            </a:xfrm>
            <a:prstGeom prst="rect">
              <a:avLst/>
            </a:prstGeom>
            <a:solidFill>
              <a:srgbClr val="E8636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CF56C927-33BF-C565-90A3-7901C8E7AEF8}"/>
                </a:ext>
              </a:extLst>
            </p:cNvPr>
            <p:cNvSpPr/>
            <p:nvPr/>
          </p:nvSpPr>
          <p:spPr>
            <a:xfrm>
              <a:off x="5094039" y="2793492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63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27.4%</a:t>
              </a:r>
              <a:endParaRPr lang="en-US" sz="1100" dirty="0"/>
            </a:p>
          </p:txBody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BC763B95-61D6-4288-1BCA-619B84F4F080}"/>
                </a:ext>
              </a:extLst>
            </p:cNvPr>
            <p:cNvSpPr/>
            <p:nvPr/>
          </p:nvSpPr>
          <p:spPr>
            <a:xfrm>
              <a:off x="5569527" y="2793492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(n=5,586)</a:t>
              </a:r>
              <a:endParaRPr lang="en-US" sz="1000" dirty="0"/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B08E4407-8241-EC1A-C1F0-E0E8900A16EC}"/>
                </a:ext>
              </a:extLst>
            </p:cNvPr>
            <p:cNvSpPr/>
            <p:nvPr/>
          </p:nvSpPr>
          <p:spPr>
            <a:xfrm>
              <a:off x="640080" y="3099816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Home Health Care</a:t>
              </a:r>
              <a:endParaRPr lang="en-US" sz="1200" dirty="0"/>
            </a:p>
          </p:txBody>
        </p:sp>
        <p:sp>
          <p:nvSpPr>
            <p:cNvPr id="32" name="Shape 25">
              <a:extLst>
                <a:ext uri="{FF2B5EF4-FFF2-40B4-BE49-F238E27FC236}">
                  <a16:creationId xmlns:a16="http://schemas.microsoft.com/office/drawing/2014/main" id="{ADEEB421-D0F4-BC1A-71BE-06B956881268}"/>
                </a:ext>
              </a:extLst>
            </p:cNvPr>
            <p:cNvSpPr/>
            <p:nvPr/>
          </p:nvSpPr>
          <p:spPr>
            <a:xfrm>
              <a:off x="2743200" y="3118104"/>
              <a:ext cx="2086495" cy="201168"/>
            </a:xfrm>
            <a:prstGeom prst="rect">
              <a:avLst/>
            </a:prstGeom>
            <a:solidFill>
              <a:srgbClr val="F4B94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6">
              <a:extLst>
                <a:ext uri="{FF2B5EF4-FFF2-40B4-BE49-F238E27FC236}">
                  <a16:creationId xmlns:a16="http://schemas.microsoft.com/office/drawing/2014/main" id="{6E91CEDE-7CE7-CEDC-41CD-5366CD3AAED0}"/>
                </a:ext>
              </a:extLst>
            </p:cNvPr>
            <p:cNvSpPr/>
            <p:nvPr/>
          </p:nvSpPr>
          <p:spPr>
            <a:xfrm>
              <a:off x="4902847" y="3099816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4B9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25.1%</a:t>
              </a:r>
              <a:endParaRPr lang="en-US" sz="1100" dirty="0"/>
            </a:p>
          </p:txBody>
        </p:sp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2727E3DA-7D6D-165D-F298-1FD0684ED11B}"/>
                </a:ext>
              </a:extLst>
            </p:cNvPr>
            <p:cNvSpPr/>
            <p:nvPr/>
          </p:nvSpPr>
          <p:spPr>
            <a:xfrm>
              <a:off x="5378335" y="3099816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(n=56,615)</a:t>
              </a:r>
              <a:endParaRPr lang="en-US" sz="1000" b="1" dirty="0"/>
            </a:p>
          </p:txBody>
        </p:sp>
        <p:sp>
          <p:nvSpPr>
            <p:cNvPr id="35" name="Text 28">
              <a:extLst>
                <a:ext uri="{FF2B5EF4-FFF2-40B4-BE49-F238E27FC236}">
                  <a16:creationId xmlns:a16="http://schemas.microsoft.com/office/drawing/2014/main" id="{605A6C15-31B0-A319-0637-2ED4883F9D9A}"/>
                </a:ext>
              </a:extLst>
            </p:cNvPr>
            <p:cNvSpPr/>
            <p:nvPr/>
          </p:nvSpPr>
          <p:spPr>
            <a:xfrm>
              <a:off x="640080" y="3406140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Skilled Nursing Facility</a:t>
              </a:r>
              <a:endParaRPr lang="en-US" sz="1200" dirty="0"/>
            </a:p>
          </p:txBody>
        </p:sp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97A042BE-30DE-EA24-4C41-D33068805B25}"/>
                </a:ext>
              </a:extLst>
            </p:cNvPr>
            <p:cNvSpPr/>
            <p:nvPr/>
          </p:nvSpPr>
          <p:spPr>
            <a:xfrm>
              <a:off x="2743200" y="3424428"/>
              <a:ext cx="1812175" cy="201168"/>
            </a:xfrm>
            <a:prstGeom prst="rect">
              <a:avLst/>
            </a:prstGeom>
            <a:solidFill>
              <a:srgbClr val="F4B94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133DA418-8ECC-E347-494D-77D616B1F139}"/>
                </a:ext>
              </a:extLst>
            </p:cNvPr>
            <p:cNvSpPr/>
            <p:nvPr/>
          </p:nvSpPr>
          <p:spPr>
            <a:xfrm>
              <a:off x="4628527" y="3406140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4B9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21.8%</a:t>
              </a:r>
              <a:endParaRPr lang="en-US" sz="1100" dirty="0"/>
            </a:p>
          </p:txBody>
        </p:sp>
        <p:sp>
          <p:nvSpPr>
            <p:cNvPr id="38" name="Text 31">
              <a:extLst>
                <a:ext uri="{FF2B5EF4-FFF2-40B4-BE49-F238E27FC236}">
                  <a16:creationId xmlns:a16="http://schemas.microsoft.com/office/drawing/2014/main" id="{C86934B5-3539-A044-3088-B24880546958}"/>
                </a:ext>
              </a:extLst>
            </p:cNvPr>
            <p:cNvSpPr/>
            <p:nvPr/>
          </p:nvSpPr>
          <p:spPr>
            <a:xfrm>
              <a:off x="5104015" y="3406140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(n=42,312)</a:t>
              </a:r>
              <a:endParaRPr lang="en-US" sz="1000" dirty="0"/>
            </a:p>
          </p:txBody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1C80AF40-8326-844C-464C-4E0B00444D9E}"/>
                </a:ext>
              </a:extLst>
            </p:cNvPr>
            <p:cNvSpPr/>
            <p:nvPr/>
          </p:nvSpPr>
          <p:spPr>
            <a:xfrm>
              <a:off x="640080" y="3712464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HOME</a:t>
              </a:r>
              <a:endParaRPr lang="en-US" sz="1200" dirty="0"/>
            </a:p>
          </p:txBody>
        </p:sp>
        <p:sp>
          <p:nvSpPr>
            <p:cNvPr id="40" name="Shape 33">
              <a:extLst>
                <a:ext uri="{FF2B5EF4-FFF2-40B4-BE49-F238E27FC236}">
                  <a16:creationId xmlns:a16="http://schemas.microsoft.com/office/drawing/2014/main" id="{96BB1156-A56D-8C8B-35C6-D9A2102335A2}"/>
                </a:ext>
              </a:extLst>
            </p:cNvPr>
            <p:cNvSpPr/>
            <p:nvPr/>
          </p:nvSpPr>
          <p:spPr>
            <a:xfrm>
              <a:off x="2743200" y="3730752"/>
              <a:ext cx="1654233" cy="201168"/>
            </a:xfrm>
            <a:prstGeom prst="rect">
              <a:avLst/>
            </a:prstGeom>
            <a:solidFill>
              <a:srgbClr val="0F7B8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34">
              <a:extLst>
                <a:ext uri="{FF2B5EF4-FFF2-40B4-BE49-F238E27FC236}">
                  <a16:creationId xmlns:a16="http://schemas.microsoft.com/office/drawing/2014/main" id="{D457D9A1-68AE-F993-9936-4ACE60211536}"/>
                </a:ext>
              </a:extLst>
            </p:cNvPr>
            <p:cNvSpPr/>
            <p:nvPr/>
          </p:nvSpPr>
          <p:spPr>
            <a:xfrm>
              <a:off x="4470585" y="3712464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7B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19.9%</a:t>
              </a:r>
              <a:endParaRPr lang="en-US" sz="1100" dirty="0"/>
            </a:p>
          </p:txBody>
        </p:sp>
        <p:sp>
          <p:nvSpPr>
            <p:cNvPr id="42" name="Text 35">
              <a:extLst>
                <a:ext uri="{FF2B5EF4-FFF2-40B4-BE49-F238E27FC236}">
                  <a16:creationId xmlns:a16="http://schemas.microsoft.com/office/drawing/2014/main" id="{68544302-E137-8378-AEE4-461758999E25}"/>
                </a:ext>
              </a:extLst>
            </p:cNvPr>
            <p:cNvSpPr/>
            <p:nvPr/>
          </p:nvSpPr>
          <p:spPr>
            <a:xfrm>
              <a:off x="4946073" y="3712464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(n=62,075)</a:t>
              </a:r>
              <a:endParaRPr lang="en-US" sz="1000" dirty="0"/>
            </a:p>
          </p:txBody>
        </p:sp>
        <p:sp>
          <p:nvSpPr>
            <p:cNvPr id="43" name="Text 36">
              <a:extLst>
                <a:ext uri="{FF2B5EF4-FFF2-40B4-BE49-F238E27FC236}">
                  <a16:creationId xmlns:a16="http://schemas.microsoft.com/office/drawing/2014/main" id="{A45435B7-55A5-C2D0-08B5-832F7BA55EF6}"/>
                </a:ext>
              </a:extLst>
            </p:cNvPr>
            <p:cNvSpPr/>
            <p:nvPr/>
          </p:nvSpPr>
          <p:spPr>
            <a:xfrm>
              <a:off x="640080" y="4018788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Rehab</a:t>
              </a:r>
              <a:endParaRPr lang="en-US" sz="1200" dirty="0"/>
            </a:p>
          </p:txBody>
        </p:sp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362E54C0-CDCF-97DD-49AD-FD68E1ACAD3E}"/>
                </a:ext>
              </a:extLst>
            </p:cNvPr>
            <p:cNvSpPr/>
            <p:nvPr/>
          </p:nvSpPr>
          <p:spPr>
            <a:xfrm>
              <a:off x="2743200" y="4037076"/>
              <a:ext cx="1562793" cy="201168"/>
            </a:xfrm>
            <a:prstGeom prst="rect">
              <a:avLst/>
            </a:prstGeom>
            <a:solidFill>
              <a:srgbClr val="0F7B8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4DB32F1D-B050-1F7D-1DDF-2A91C03CA170}"/>
                </a:ext>
              </a:extLst>
            </p:cNvPr>
            <p:cNvSpPr/>
            <p:nvPr/>
          </p:nvSpPr>
          <p:spPr>
            <a:xfrm>
              <a:off x="4379145" y="4018788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7B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18.8%</a:t>
              </a:r>
              <a:endParaRPr lang="en-US" sz="1100" dirty="0"/>
            </a:p>
          </p:txBody>
        </p:sp>
        <p:sp>
          <p:nvSpPr>
            <p:cNvPr id="46" name="Text 39">
              <a:extLst>
                <a:ext uri="{FF2B5EF4-FFF2-40B4-BE49-F238E27FC236}">
                  <a16:creationId xmlns:a16="http://schemas.microsoft.com/office/drawing/2014/main" id="{288AA428-5CC3-87AD-3C14-695595FE87AC}"/>
                </a:ext>
              </a:extLst>
            </p:cNvPr>
            <p:cNvSpPr/>
            <p:nvPr/>
          </p:nvSpPr>
          <p:spPr>
            <a:xfrm>
              <a:off x="4854633" y="4018788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(n=8,684)</a:t>
              </a:r>
              <a:endParaRPr lang="en-US" sz="1000" dirty="0"/>
            </a:p>
          </p:txBody>
        </p:sp>
        <p:sp>
          <p:nvSpPr>
            <p:cNvPr id="47" name="Text 40">
              <a:extLst>
                <a:ext uri="{FF2B5EF4-FFF2-40B4-BE49-F238E27FC236}">
                  <a16:creationId xmlns:a16="http://schemas.microsoft.com/office/drawing/2014/main" id="{B89B817B-5144-B50B-6F72-83F5B413E9B5}"/>
                </a:ext>
              </a:extLst>
            </p:cNvPr>
            <p:cNvSpPr/>
            <p:nvPr/>
          </p:nvSpPr>
          <p:spPr>
            <a:xfrm>
              <a:off x="640080" y="4325112"/>
              <a:ext cx="2011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A2332"/>
                  </a:solidFill>
                  <a:ea typeface="Calibri" pitchFamily="34" charset="-122"/>
                  <a:cs typeface="Calibri" pitchFamily="34" charset="-120"/>
                </a:rPr>
                <a:t>Hospice</a:t>
              </a:r>
              <a:endParaRPr lang="en-US" sz="1200" dirty="0"/>
            </a:p>
          </p:txBody>
        </p:sp>
        <p:sp>
          <p:nvSpPr>
            <p:cNvPr id="48" name="Shape 41">
              <a:extLst>
                <a:ext uri="{FF2B5EF4-FFF2-40B4-BE49-F238E27FC236}">
                  <a16:creationId xmlns:a16="http://schemas.microsoft.com/office/drawing/2014/main" id="{383482CB-5184-CB39-C619-6B8AB8AA7C35}"/>
                </a:ext>
              </a:extLst>
            </p:cNvPr>
            <p:cNvSpPr/>
            <p:nvPr/>
          </p:nvSpPr>
          <p:spPr>
            <a:xfrm>
              <a:off x="2743200" y="4343400"/>
              <a:ext cx="324196" cy="201168"/>
            </a:xfrm>
            <a:prstGeom prst="rect">
              <a:avLst/>
            </a:prstGeom>
            <a:solidFill>
              <a:srgbClr val="6B7B8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2">
              <a:extLst>
                <a:ext uri="{FF2B5EF4-FFF2-40B4-BE49-F238E27FC236}">
                  <a16:creationId xmlns:a16="http://schemas.microsoft.com/office/drawing/2014/main" id="{402BC356-E721-810B-8B31-B051C1D08F28}"/>
                </a:ext>
              </a:extLst>
            </p:cNvPr>
            <p:cNvSpPr/>
            <p:nvPr/>
          </p:nvSpPr>
          <p:spPr>
            <a:xfrm>
              <a:off x="3140548" y="4325112"/>
              <a:ext cx="54864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3.9</a:t>
              </a:r>
              <a:r>
                <a:rPr lang="en-US" sz="1050" b="1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1050" dirty="0"/>
            </a:p>
          </p:txBody>
        </p:sp>
        <p:sp>
          <p:nvSpPr>
            <p:cNvPr id="50" name="Text 43">
              <a:extLst>
                <a:ext uri="{FF2B5EF4-FFF2-40B4-BE49-F238E27FC236}">
                  <a16:creationId xmlns:a16="http://schemas.microsoft.com/office/drawing/2014/main" id="{790107E2-1F92-2725-F977-F56479F377BB}"/>
                </a:ext>
              </a:extLst>
            </p:cNvPr>
            <p:cNvSpPr/>
            <p:nvPr/>
          </p:nvSpPr>
          <p:spPr>
            <a:xfrm>
              <a:off x="3616036" y="4325112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(n=3,566)</a:t>
              </a:r>
              <a:endParaRPr lang="en-US" sz="1000" dirty="0"/>
            </a:p>
          </p:txBody>
        </p:sp>
        <p:sp>
          <p:nvSpPr>
            <p:cNvPr id="51" name="Shape 44">
              <a:extLst>
                <a:ext uri="{FF2B5EF4-FFF2-40B4-BE49-F238E27FC236}">
                  <a16:creationId xmlns:a16="http://schemas.microsoft.com/office/drawing/2014/main" id="{98E0FAEC-89BE-E71C-2784-DB3E6389417C}"/>
                </a:ext>
              </a:extLst>
            </p:cNvPr>
            <p:cNvSpPr/>
            <p:nvPr/>
          </p:nvSpPr>
          <p:spPr>
            <a:xfrm>
              <a:off x="457200" y="4709160"/>
              <a:ext cx="2651760" cy="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45">
              <a:extLst>
                <a:ext uri="{FF2B5EF4-FFF2-40B4-BE49-F238E27FC236}">
                  <a16:creationId xmlns:a16="http://schemas.microsoft.com/office/drawing/2014/main" id="{C1DCEF32-59A3-8A9D-E2D7-DD4E3AF8F874}"/>
                </a:ext>
              </a:extLst>
            </p:cNvPr>
            <p:cNvSpPr/>
            <p:nvPr/>
          </p:nvSpPr>
          <p:spPr>
            <a:xfrm>
              <a:off x="502920" y="4718304"/>
              <a:ext cx="548640" cy="36576"/>
            </a:xfrm>
            <a:prstGeom prst="rect">
              <a:avLst/>
            </a:prstGeom>
            <a:solidFill>
              <a:srgbClr val="E8636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46">
              <a:extLst>
                <a:ext uri="{FF2B5EF4-FFF2-40B4-BE49-F238E27FC236}">
                  <a16:creationId xmlns:a16="http://schemas.microsoft.com/office/drawing/2014/main" id="{B44D9E4A-B8B6-C3D1-67F2-7CF0875FB6A0}"/>
                </a:ext>
              </a:extLst>
            </p:cNvPr>
            <p:cNvSpPr/>
            <p:nvPr/>
          </p:nvSpPr>
          <p:spPr>
            <a:xfrm>
              <a:off x="3291840" y="4709160"/>
              <a:ext cx="2651760" cy="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47">
              <a:extLst>
                <a:ext uri="{FF2B5EF4-FFF2-40B4-BE49-F238E27FC236}">
                  <a16:creationId xmlns:a16="http://schemas.microsoft.com/office/drawing/2014/main" id="{38DDE2C6-FDD9-FC50-E71C-6281026F2C88}"/>
                </a:ext>
              </a:extLst>
            </p:cNvPr>
            <p:cNvSpPr/>
            <p:nvPr/>
          </p:nvSpPr>
          <p:spPr>
            <a:xfrm>
              <a:off x="3337560" y="4718304"/>
              <a:ext cx="548640" cy="36576"/>
            </a:xfrm>
            <a:prstGeom prst="rect">
              <a:avLst/>
            </a:prstGeom>
            <a:solidFill>
              <a:srgbClr val="F4B94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49">
              <a:extLst>
                <a:ext uri="{FF2B5EF4-FFF2-40B4-BE49-F238E27FC236}">
                  <a16:creationId xmlns:a16="http://schemas.microsoft.com/office/drawing/2014/main" id="{26AB2941-813C-D13D-7CD4-10685F3052DC}"/>
                </a:ext>
              </a:extLst>
            </p:cNvPr>
            <p:cNvSpPr/>
            <p:nvPr/>
          </p:nvSpPr>
          <p:spPr>
            <a:xfrm>
              <a:off x="6172200" y="4718304"/>
              <a:ext cx="548640" cy="36576"/>
            </a:xfrm>
            <a:prstGeom prst="rect">
              <a:avLst/>
            </a:prstGeom>
            <a:solidFill>
              <a:srgbClr val="0F7B8A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Rectangle 2">
            <a:extLst>
              <a:ext uri="{FF2B5EF4-FFF2-40B4-BE49-F238E27FC236}">
                <a16:creationId xmlns:a16="http://schemas.microsoft.com/office/drawing/2014/main" id="{19472BF9-9D05-0D10-C16D-CFDB371A28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376" y="2584950"/>
            <a:ext cx="3127841" cy="402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1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800" b="1" dirty="0">
                <a:latin typeface="Arial" panose="020B0604020202020204" pitchFamily="34" charset="0"/>
              </a:rPr>
              <a:t>Takeaways: </a:t>
            </a:r>
            <a:br>
              <a:rPr lang="en-US" sz="1800" b="1" dirty="0">
                <a:latin typeface="Arial" panose="020B0604020202020204" pitchFamily="34" charset="0"/>
              </a:rPr>
            </a:br>
            <a:r>
              <a:rPr lang="en-US" sz="1800" b="1" dirty="0">
                <a:latin typeface="Arial" panose="020B0604020202020204" pitchFamily="34" charset="0"/>
              </a:rPr>
              <a:t>1. </a:t>
            </a:r>
            <a:r>
              <a:rPr lang="en-US" sz="1800" dirty="0">
                <a:latin typeface="Arial" panose="020B0604020202020204" pitchFamily="34" charset="0"/>
              </a:rPr>
              <a:t>Discharge destination shows wide variation in readmission rates (3.9% to 50.3%), suggesting strong predictive potential.</a:t>
            </a:r>
            <a:br>
              <a:rPr lang="en-US" sz="1800" dirty="0">
                <a:latin typeface="Arial" panose="020B0604020202020204" pitchFamily="34" charset="0"/>
              </a:rPr>
            </a:br>
            <a:br>
              <a:rPr lang="en-US" sz="1800" dirty="0">
                <a:latin typeface="Arial" panose="020B0604020202020204" pitchFamily="34" charset="0"/>
              </a:rPr>
            </a:br>
            <a:r>
              <a:rPr lang="en-US" sz="1800" b="1" dirty="0">
                <a:latin typeface="Arial" panose="020B0604020202020204" pitchFamily="34" charset="0"/>
              </a:rPr>
              <a:t>2. </a:t>
            </a:r>
            <a:r>
              <a:rPr lang="en-US" sz="1800" dirty="0">
                <a:latin typeface="Arial" panose="020B0604020202020204" pitchFamily="34" charset="0"/>
              </a:rPr>
              <a:t>Care-coordination interventions can target the 56K Home Health patients readmitting at 25.1%.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154FD5-84E5-133F-C562-1413F95B7E95}"/>
              </a:ext>
            </a:extLst>
          </p:cNvPr>
          <p:cNvSpPr txBox="1"/>
          <p:nvPr/>
        </p:nvSpPr>
        <p:spPr>
          <a:xfrm>
            <a:off x="0" y="2101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91E40"/>
                </a:solidFill>
              </a:rPr>
              <a:t>Discharge Destination 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C71C2-1929-24D1-326E-03AF8ED13294}"/>
              </a:ext>
            </a:extLst>
          </p:cNvPr>
          <p:cNvSpPr txBox="1"/>
          <p:nvPr/>
        </p:nvSpPr>
        <p:spPr>
          <a:xfrm>
            <a:off x="3543554" y="6639399"/>
            <a:ext cx="6096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Chronic/LTAC </a:t>
            </a:r>
            <a:r>
              <a:rPr lang="en-US" sz="1000" dirty="0"/>
              <a:t>= Long-Term Acute Care facilities</a:t>
            </a:r>
          </a:p>
        </p:txBody>
      </p:sp>
    </p:spTree>
    <p:extLst>
      <p:ext uri="{BB962C8B-B14F-4D97-AF65-F5344CB8AC3E}">
        <p14:creationId xmlns:p14="http://schemas.microsoft.com/office/powerpoint/2010/main" val="129582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A88AD-04A7-FB25-08C0-32A6FFA4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0B7B-D0F6-5B9C-81F9-F5523D347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1850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0AC7C-6B58-48F5-D6F1-B5B7F96214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EFF356D9-FE1E-8D5E-1985-75DB5E77E1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4AFCB9E-B13A-0472-381D-30A783D165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DEC12DA-EDC5-4F25-8595-441B1577B815}"/>
              </a:ext>
            </a:extLst>
          </p:cNvPr>
          <p:cNvSpPr txBox="1">
            <a:spLocks/>
          </p:cNvSpPr>
          <p:nvPr/>
        </p:nvSpPr>
        <p:spPr>
          <a:xfrm>
            <a:off x="850638" y="1027669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Dataset Versions V1-V7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917687-CBA4-E0AF-7831-5982673A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92CD0DF-69CE-62C8-2604-77AC3EB31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989320"/>
              </p:ext>
            </p:extLst>
          </p:nvPr>
        </p:nvGraphicFramePr>
        <p:xfrm>
          <a:off x="520827" y="3815838"/>
          <a:ext cx="10832973" cy="2155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8855685-443B-A866-0360-2021DF6A9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104880"/>
              </p:ext>
            </p:extLst>
          </p:nvPr>
        </p:nvGraphicFramePr>
        <p:xfrm>
          <a:off x="2032000" y="2046981"/>
          <a:ext cx="8128000" cy="2155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332675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B0724-5DD7-9ECF-CE7C-FFA31F46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49E9-F2E2-9C92-C0B7-35F5F403E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1850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5277F-D99F-FCD1-DEB2-743E51E05C1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989B4940-571B-C94C-EB25-D0D79B7879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3481253-BB28-81B9-5771-7B14D283FD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443503B-11D5-D368-79ED-C79BDE5D3696}"/>
              </a:ext>
            </a:extLst>
          </p:cNvPr>
          <p:cNvSpPr txBox="1">
            <a:spLocks/>
          </p:cNvSpPr>
          <p:nvPr/>
        </p:nvSpPr>
        <p:spPr>
          <a:xfrm>
            <a:off x="850638" y="1027669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Dataset Versions V1-V6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89A819-4FD8-2E22-2B55-D44D6B743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9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3C66FA0-E80B-7DB5-FAE4-AA413658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17" y="2268901"/>
            <a:ext cx="882319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Version 1 – Baseline Feature Set</a:t>
            </a:r>
            <a:r>
              <a:rPr lang="en-US" altLang="en-US" sz="2500" b="1" dirty="0"/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dirty="0">
                <a:latin typeface="Arial" panose="020B0604020202020204" pitchFamily="34" charset="0"/>
              </a:rPr>
              <a:t>age, gender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Admission info</a:t>
            </a:r>
            <a:r>
              <a:rPr lang="en-US" altLang="en-US" dirty="0">
                <a:latin typeface="Arial" panose="020B0604020202020204" pitchFamily="34" charset="0"/>
              </a:rPr>
              <a:t>: admission type, admission location, discharge location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Comorbidities (7 flags)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MI,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CHF, diabetes, COPD, cerebrovascular, renal, cancer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 context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Length of Stay (LOS), discharge hour, weekend discharge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Medication burden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distinct drugs, polypharmacy flag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 use (6 months)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 admissions, mean prior LOS, any ED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Diagnosis Related Group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DRG) code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1DF93DA-9469-BBB5-FF35-8885FFB88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16" y="2290157"/>
            <a:ext cx="8823192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Version 2 – Temporal &amp; Complexity Signals added: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Added 3 engineered features on top of V1: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Prior DRG + discharge disposition:</a:t>
            </a:r>
            <a:r>
              <a:rPr lang="en-US" dirty="0"/>
              <a:t> combined category (</a:t>
            </a:r>
            <a:r>
              <a:rPr lang="en-US" b="1" dirty="0" err="1"/>
              <a:t>last_drg_dispo</a:t>
            </a:r>
            <a:r>
              <a:rPr lang="en-US" dirty="0"/>
              <a:t>) from the previous admission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Medication complexity (last 90 days):</a:t>
            </a:r>
            <a:r>
              <a:rPr lang="en-US" dirty="0"/>
              <a:t> Shannon entropy of medication classes (</a:t>
            </a:r>
            <a:r>
              <a:rPr lang="en-US" b="1" dirty="0"/>
              <a:t>med_entropy_90d</a:t>
            </a:r>
            <a:r>
              <a:rPr lang="en-US" dirty="0"/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Length of Stay (LOS) trend across admissions:</a:t>
            </a:r>
            <a:r>
              <a:rPr lang="en-US" dirty="0"/>
              <a:t> mean change in length of stay vs the prior admission (</a:t>
            </a:r>
            <a:r>
              <a:rPr lang="en-US" b="1" dirty="0"/>
              <a:t>los_trend_180d</a:t>
            </a:r>
            <a:r>
              <a:rPr lang="en-US" dirty="0"/>
              <a:t>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07FA314-3812-FB72-E2F9-4385120FA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16" y="2268901"/>
            <a:ext cx="8823192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Version 3 – Data Quality &amp; Length of Stay Refinement: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Adds 4 engineered features on top of V2: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Recomputed Length of Stay  (</a:t>
            </a:r>
            <a:r>
              <a:rPr lang="en-US" b="1" dirty="0" err="1"/>
              <a:t>los_days</a:t>
            </a:r>
            <a:r>
              <a:rPr lang="en-US" b="1" dirty="0"/>
              <a:t>)</a:t>
            </a:r>
            <a:r>
              <a:rPr lang="en-US" dirty="0"/>
              <a:t> – calculated directly as </a:t>
            </a:r>
            <a:r>
              <a:rPr lang="en-US" i="1" dirty="0"/>
              <a:t>(discharge − admit) ÷ 24</a:t>
            </a:r>
            <a:r>
              <a:rPr lang="en-US" dirty="0"/>
              <a:t> to ensure consistent LOS across all encounters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Diagnosis Related Group (DRG) missing flag (</a:t>
            </a:r>
            <a:r>
              <a:rPr lang="en-US" b="1" dirty="0" err="1"/>
              <a:t>drg_code_is_missing</a:t>
            </a:r>
            <a:r>
              <a:rPr lang="en-US" b="1" dirty="0"/>
              <a:t>)</a:t>
            </a:r>
            <a:r>
              <a:rPr lang="en-US" dirty="0"/>
              <a:t> – 1 if DRG code is null, capturing unusual billing or incomplete documentation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Discharge missing flag (</a:t>
            </a:r>
            <a:r>
              <a:rPr lang="en-US" b="1" dirty="0" err="1"/>
              <a:t>discharge_location_is_missing</a:t>
            </a:r>
            <a:r>
              <a:rPr lang="en-US" b="1" dirty="0"/>
              <a:t>)</a:t>
            </a:r>
            <a:r>
              <a:rPr lang="en-US" dirty="0"/>
              <a:t> – 1 when discharge disposition is absent, signaling atypical workflows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Length of Stay missing flag (</a:t>
            </a:r>
            <a:r>
              <a:rPr lang="en-US" b="1" dirty="0" err="1"/>
              <a:t>los_days_is_missing</a:t>
            </a:r>
            <a:r>
              <a:rPr lang="en-US" b="1" dirty="0"/>
              <a:t>)</a:t>
            </a:r>
            <a:r>
              <a:rPr lang="en-US" dirty="0"/>
              <a:t> – identifies encounters with incomplete timestamps or irregular LOS patterns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E265F-776A-A557-8F46-16E436EFE074}"/>
              </a:ext>
            </a:extLst>
          </p:cNvPr>
          <p:cNvSpPr txBox="1"/>
          <p:nvPr/>
        </p:nvSpPr>
        <p:spPr>
          <a:xfrm>
            <a:off x="617348" y="1962685"/>
            <a:ext cx="9183153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Version 4 – Clinical Severity &amp; Interaction Features</a:t>
            </a:r>
          </a:p>
          <a:p>
            <a:pPr>
              <a:buNone/>
            </a:pPr>
            <a:endParaRPr lang="en-US" sz="1100" b="1" dirty="0"/>
          </a:p>
          <a:p>
            <a:pPr>
              <a:buNone/>
            </a:pPr>
            <a:r>
              <a:rPr lang="en-US" b="1" dirty="0"/>
              <a:t>Added 5 engineered features on top of V3: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Age buckets (</a:t>
            </a:r>
            <a:r>
              <a:rPr lang="en-US" b="1" dirty="0" err="1">
                <a:latin typeface="Courier New" panose="02070309020205020404" pitchFamily="49" charset="0"/>
              </a:rPr>
              <a:t>age_bucket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Age grouped into 4 clinical bands (</a:t>
            </a:r>
            <a:r>
              <a:rPr lang="en-US" i="1" dirty="0"/>
              <a:t>lt65, 65–74, 75–84, 85+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Comorbidity score (</a:t>
            </a:r>
            <a:r>
              <a:rPr lang="en-US" b="1" dirty="0" err="1">
                <a:latin typeface="Courier New" panose="02070309020205020404" pitchFamily="49" charset="0"/>
              </a:rPr>
              <a:t>cci_total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Sum of all CCI flags to create a single measure of comorbidity burden.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Admission acuity score (</a:t>
            </a:r>
            <a:r>
              <a:rPr lang="en-US" b="1" dirty="0" err="1">
                <a:latin typeface="Courier New" panose="02070309020205020404" pitchFamily="49" charset="0"/>
              </a:rPr>
              <a:t>admission_type_ord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Admission type mapped to an ordered severity scale (ELECTIVE=0 → TRAUMA=3).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Age × comorbidity (</a:t>
            </a:r>
            <a:r>
              <a:rPr lang="en-US" b="1" dirty="0" err="1">
                <a:latin typeface="Courier New" panose="02070309020205020404" pitchFamily="49" charset="0"/>
              </a:rPr>
              <a:t>age_cci_interaction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Interaction term capturing patients who are both older and highly comorbid.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Length of Stay × comorbidity (</a:t>
            </a:r>
            <a:r>
              <a:rPr lang="en-US" b="1" dirty="0" err="1">
                <a:latin typeface="Courier New" panose="02070309020205020404" pitchFamily="49" charset="0"/>
              </a:rPr>
              <a:t>los_cci_interaction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Interaction term capturing long stays combined with higher comorbidity.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E6571F-1744-4D2E-92D3-C712673AA153}"/>
              </a:ext>
            </a:extLst>
          </p:cNvPr>
          <p:cNvSpPr txBox="1"/>
          <p:nvPr/>
        </p:nvSpPr>
        <p:spPr>
          <a:xfrm>
            <a:off x="663274" y="2282617"/>
            <a:ext cx="9235229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Version 5 – Nonlinear &amp; Interaction Enhancements</a:t>
            </a:r>
          </a:p>
          <a:p>
            <a:pPr>
              <a:buNone/>
            </a:pPr>
            <a:endParaRPr lang="en-US" sz="1100" b="1" dirty="0"/>
          </a:p>
          <a:p>
            <a:r>
              <a:rPr lang="en-US" b="1" dirty="0"/>
              <a:t>Added 3 engineered features on top of V4:</a:t>
            </a: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Length of Stay × Age (</a:t>
            </a:r>
            <a:r>
              <a:rPr lang="en-US" b="1" dirty="0" err="1">
                <a:latin typeface="Courier New" panose="02070309020205020404" pitchFamily="49" charset="0"/>
              </a:rPr>
              <a:t>los_age_interaction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Engineered feature: </a:t>
            </a:r>
            <a:r>
              <a:rPr lang="en-US" dirty="0" err="1">
                <a:latin typeface="Courier New" panose="02070309020205020404" pitchFamily="49" charset="0"/>
              </a:rPr>
              <a:t>los_days</a:t>
            </a:r>
            <a:r>
              <a:rPr lang="en-US" dirty="0">
                <a:latin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</a:rPr>
              <a:t>age_at_admit</a:t>
            </a:r>
            <a:endParaRPr lang="en-US" dirty="0">
              <a:latin typeface="Courier New" panose="020703090202050204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Captures nonlinear risk for older patients with long stays.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Squared comorbidity score (</a:t>
            </a:r>
            <a:r>
              <a:rPr lang="en-US" b="1" dirty="0" err="1">
                <a:latin typeface="Courier New" panose="02070309020205020404" pitchFamily="49" charset="0"/>
              </a:rPr>
              <a:t>cci_total_sq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Engineered feature: </a:t>
            </a:r>
            <a:r>
              <a:rPr lang="en-US" dirty="0" err="1">
                <a:latin typeface="Courier New" panose="02070309020205020404" pitchFamily="49" charset="0"/>
              </a:rPr>
              <a:t>cci_total</a:t>
            </a:r>
            <a:r>
              <a:rPr lang="en-US" dirty="0">
                <a:latin typeface="Courier New" panose="02070309020205020404" pitchFamily="49" charset="0"/>
              </a:rPr>
              <a:t> **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Amplifies risk for very high comorbidity burden.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Log-transformed Length of Stay (</a:t>
            </a:r>
            <a:r>
              <a:rPr lang="en-US" b="1" dirty="0" err="1">
                <a:latin typeface="Courier New" panose="02070309020205020404" pitchFamily="49" charset="0"/>
              </a:rPr>
              <a:t>log_los_days</a:t>
            </a:r>
            <a:r>
              <a:rPr lang="en-US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Engineered feature: </a:t>
            </a:r>
            <a:r>
              <a:rPr lang="en-US" dirty="0">
                <a:latin typeface="Courier New" panose="02070309020205020404" pitchFamily="49" charset="0"/>
              </a:rPr>
              <a:t>log1p(</a:t>
            </a:r>
            <a:r>
              <a:rPr lang="en-US" dirty="0" err="1">
                <a:latin typeface="Courier New" panose="02070309020205020404" pitchFamily="49" charset="0"/>
              </a:rPr>
              <a:t>los_days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Reduces effect of extreme LOS values and stabilizes long-stay distributions.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E0BAF-0884-404A-C5EA-0CD55DFDF901}"/>
              </a:ext>
            </a:extLst>
          </p:cNvPr>
          <p:cNvSpPr txBox="1"/>
          <p:nvPr/>
        </p:nvSpPr>
        <p:spPr>
          <a:xfrm>
            <a:off x="641876" y="2290157"/>
            <a:ext cx="892183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Version 6 — Clinical Feature Expansion </a:t>
            </a:r>
          </a:p>
          <a:p>
            <a:pPr>
              <a:buNone/>
            </a:pPr>
            <a:endParaRPr lang="en-US" sz="1100" b="1" dirty="0"/>
          </a:p>
          <a:p>
            <a:pPr>
              <a:buNone/>
            </a:pPr>
            <a:r>
              <a:rPr lang="en-US" dirty="0"/>
              <a:t>In V6, I expanded the dataset by adding </a:t>
            </a:r>
            <a:r>
              <a:rPr lang="en-US" b="1" dirty="0"/>
              <a:t>raw clinical information</a:t>
            </a:r>
            <a:r>
              <a:rPr lang="en-US" dirty="0"/>
              <a:t> from other MIMIC-IV tables: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Added Clinical Features (Aggregated per admission):</a:t>
            </a:r>
          </a:p>
          <a:p>
            <a:pPr>
              <a:buNone/>
            </a:pPr>
            <a:endParaRPr lang="en-US" sz="7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Diagnosis complexity: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n_diagnoses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Procedure complexity: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n_procedures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Medication burden: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n_meds_total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n_meds_unique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Lab intensity: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n_labs_total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n_lab_item_types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n_labs_abnormal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ICU utilization: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icu_flag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icu_total_hrs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Patient history: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prior_admissions_all</a:t>
            </a:r>
            <a:endParaRPr 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550E917-4E32-C2D8-8D6D-8CBF481CD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48587"/>
              </p:ext>
            </p:extLst>
          </p:nvPr>
        </p:nvGraphicFramePr>
        <p:xfrm>
          <a:off x="9673971" y="3316949"/>
          <a:ext cx="2377440" cy="2590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FE3A32-2B8F-253A-678A-422BA7448E06}"/>
              </a:ext>
            </a:extLst>
          </p:cNvPr>
          <p:cNvSpPr txBox="1"/>
          <p:nvPr/>
        </p:nvSpPr>
        <p:spPr>
          <a:xfrm>
            <a:off x="9596780" y="2674097"/>
            <a:ext cx="24637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Table 1</a:t>
            </a:r>
            <a:r>
              <a:rPr lang="en-US" sz="1200" dirty="0"/>
              <a:t>: </a:t>
            </a:r>
            <a:r>
              <a:rPr lang="en-US" sz="1000" dirty="0"/>
              <a:t>Feature count per model version, showing progressive enrichment from V1 to V6.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9905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408F4-C413-D00A-FF9A-3D099C15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2F484-E55C-386F-C687-E62E647AD8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BC4005D9-8D1E-EED7-6BC1-EFE0498743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2D198D4-4045-DA32-4DDD-300F0F7FFB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1A7836-C75D-EC83-F1CB-FA341F788A9B}"/>
              </a:ext>
            </a:extLst>
          </p:cNvPr>
          <p:cNvSpPr txBox="1">
            <a:spLocks/>
          </p:cNvSpPr>
          <p:nvPr/>
        </p:nvSpPr>
        <p:spPr>
          <a:xfrm>
            <a:off x="1518917" y="1021157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Dataset Version V7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0ED7E2-51E8-85F6-0848-AEA2B0F6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B06A6-A99B-756F-3471-C228B359B3BC}"/>
              </a:ext>
            </a:extLst>
          </p:cNvPr>
          <p:cNvSpPr txBox="1"/>
          <p:nvPr/>
        </p:nvSpPr>
        <p:spPr>
          <a:xfrm>
            <a:off x="1976117" y="18796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9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established 40 core clinical features. V7 adds 10 advanced features in two categories to capture non-linear relationships the base features miss.</a:t>
            </a:r>
            <a:endParaRPr lang="en-US" sz="1800" dirty="0">
              <a:solidFill>
                <a:srgbClr val="091E40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EFD9E3E-DD56-A1D8-8A58-D4D30CFCD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89" y="2627321"/>
            <a:ext cx="4864446" cy="380895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9628F35-F235-CFE5-8891-F4E41190F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998" y="2621313"/>
            <a:ext cx="4864446" cy="38209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A6C66A-A7E9-4DC0-0FFF-CCA068AD4117}"/>
              </a:ext>
            </a:extLst>
          </p:cNvPr>
          <p:cNvSpPr txBox="1"/>
          <p:nvPr/>
        </p:nvSpPr>
        <p:spPr>
          <a:xfrm>
            <a:off x="2443983" y="6582975"/>
            <a:ext cx="111684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DRG = Diagnosis-Related Group | ICD = Diagnosis coding system | LOS = Length of Stay | dx = Diagnosis</a:t>
            </a:r>
          </a:p>
        </p:txBody>
      </p:sp>
    </p:spTree>
    <p:extLst>
      <p:ext uri="{BB962C8B-B14F-4D97-AF65-F5344CB8AC3E}">
        <p14:creationId xmlns:p14="http://schemas.microsoft.com/office/powerpoint/2010/main" val="4056931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A77B1-66D8-D8B1-0B4A-F90962FB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7793-C14D-2702-2FD6-2D81B713B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326F3-3F59-3608-29AB-2579CC0630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FD071732-93CD-C1F4-ECE3-75FDFE8B91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4B2FA4-806F-DDBD-1B15-E58289C697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435D22A-9094-DF76-1814-8549E4AFF5A0}"/>
              </a:ext>
            </a:extLst>
          </p:cNvPr>
          <p:cNvSpPr txBox="1">
            <a:spLocks/>
          </p:cNvSpPr>
          <p:nvPr/>
        </p:nvSpPr>
        <p:spPr>
          <a:xfrm>
            <a:off x="1846497" y="1168604"/>
            <a:ext cx="7660117" cy="753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Feature Expansion V7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F2E8E0-1EC1-629B-8F11-CB17C1AD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7A3BDF1-D429-6467-3C29-3CCC0967B7C0}"/>
              </a:ext>
            </a:extLst>
          </p:cNvPr>
          <p:cNvSpPr/>
          <p:nvPr/>
        </p:nvSpPr>
        <p:spPr>
          <a:xfrm>
            <a:off x="7003594" y="2263383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B33DDF0-ED46-F9EE-88E3-FC55AAE2C8D8}"/>
              </a:ext>
            </a:extLst>
          </p:cNvPr>
          <p:cNvSpPr/>
          <p:nvPr/>
        </p:nvSpPr>
        <p:spPr>
          <a:xfrm>
            <a:off x="7003594" y="2263383"/>
            <a:ext cx="54864" cy="1097280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4607C14-CC04-3ADD-90F5-73DD0DF2CDA9}"/>
              </a:ext>
            </a:extLst>
          </p:cNvPr>
          <p:cNvSpPr/>
          <p:nvPr/>
        </p:nvSpPr>
        <p:spPr>
          <a:xfrm>
            <a:off x="7232194" y="2354823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V7</a:t>
            </a:r>
            <a:endParaRPr lang="en-US" sz="1600" dirty="0">
              <a:solidFill>
                <a:srgbClr val="B6862C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+0.086 AUROC gain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clinical features</a:t>
            </a:r>
            <a:endParaRPr lang="en-US" sz="16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DF2AE24-F462-0ABE-328D-3929F8E5E566}"/>
              </a:ext>
            </a:extLst>
          </p:cNvPr>
          <p:cNvSpPr/>
          <p:nvPr/>
        </p:nvSpPr>
        <p:spPr>
          <a:xfrm>
            <a:off x="7003594" y="3543543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BAF9669-C3BC-867F-C67C-E1B2DDDF53CD}"/>
              </a:ext>
            </a:extLst>
          </p:cNvPr>
          <p:cNvSpPr/>
          <p:nvPr/>
        </p:nvSpPr>
        <p:spPr>
          <a:xfrm>
            <a:off x="7003594" y="3543543"/>
            <a:ext cx="54864" cy="1097280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2FC382E-8D37-7068-55AC-A78BFA0A7CC6}"/>
              </a:ext>
            </a:extLst>
          </p:cNvPr>
          <p:cNvSpPr/>
          <p:nvPr/>
        </p:nvSpPr>
        <p:spPr>
          <a:xfrm>
            <a:off x="7232194" y="3634983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→ Expanded</a:t>
            </a:r>
            <a:endParaRPr lang="en-US" sz="1600" dirty="0">
              <a:solidFill>
                <a:srgbClr val="B6862C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+0.005 AUROC gain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improvement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59B41B0-9E0A-DD7B-FE66-EFEEF79AF682}"/>
              </a:ext>
            </a:extLst>
          </p:cNvPr>
          <p:cNvSpPr/>
          <p:nvPr/>
        </p:nvSpPr>
        <p:spPr>
          <a:xfrm>
            <a:off x="1700074" y="5326623"/>
            <a:ext cx="8229600" cy="685800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B2D8633-BA01-B0FC-3742-3B226FA7387B}"/>
              </a:ext>
            </a:extLst>
          </p:cNvPr>
          <p:cNvSpPr/>
          <p:nvPr/>
        </p:nvSpPr>
        <p:spPr>
          <a:xfrm>
            <a:off x="1882954" y="5372343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set of ~50 clinically-motivated features captures 99.4% of the predictive signal. Additional feature engineering yields only marginal improvement, confirming the parsimonious model as ideal for deployment.</a:t>
            </a:r>
            <a:endParaRPr lang="en-US" sz="12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3DBF19F3-2E79-9416-F022-B392176FC2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0604395"/>
              </p:ext>
            </p:extLst>
          </p:nvPr>
        </p:nvGraphicFramePr>
        <p:xfrm>
          <a:off x="1700074" y="2171943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50551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6ACE8-31A7-9B57-3397-A17D8A7B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D090-9D7E-EFEB-D5C5-BACEDEA1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BD08A-6D75-63B6-4126-472CB521D1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F911E38A-F4E3-9427-B5EC-5EA4C71ABF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C0AC2C2-E1D5-501C-42BA-08C7422C51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D871AB-7836-777C-B79F-8668C6E18BBB}"/>
              </a:ext>
            </a:extLst>
          </p:cNvPr>
          <p:cNvSpPr txBox="1">
            <a:spLocks/>
          </p:cNvSpPr>
          <p:nvPr/>
        </p:nvSpPr>
        <p:spPr>
          <a:xfrm>
            <a:off x="1208170" y="1800638"/>
            <a:ext cx="9775660" cy="21375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091E40"/>
                </a:solidFill>
                <a:latin typeface="+mn-lt"/>
              </a:rPr>
              <a:t>Model Performance</a:t>
            </a:r>
            <a:r>
              <a:rPr lang="en-US" sz="4400" b="1" dirty="0">
                <a:solidFill>
                  <a:srgbClr val="091E40"/>
                </a:solidFill>
                <a:latin typeface="+mn-lt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84214C-C1ED-DA2C-EB04-45A1A3DB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317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1CF02-31E5-00D2-67EB-2EF7809E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71F4-AF14-A9DC-0EED-5BBFA8C69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06295-11C3-C6EC-9D19-F18AA1F30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096E9379-3EDC-18A2-7001-E85C563D65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E5C3749-080D-9A5F-132E-5AF7A91DD3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032C01-E0E8-4FE2-FCE9-338279942C72}"/>
              </a:ext>
            </a:extLst>
          </p:cNvPr>
          <p:cNvSpPr txBox="1">
            <a:spLocks/>
          </p:cNvSpPr>
          <p:nvPr/>
        </p:nvSpPr>
        <p:spPr>
          <a:xfrm>
            <a:off x="1697386" y="1042662"/>
            <a:ext cx="8797227" cy="71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091E40"/>
                </a:solidFill>
              </a:rPr>
              <a:t>Logistic Regression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A7E216-E909-069D-1920-CFECE8CA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13</a:t>
            </a:fld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549323C-FAEC-68DD-B9BD-DF2A11AF2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17" y="1963887"/>
            <a:ext cx="497192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V1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Dataset gets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performance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this baseline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D38EFC-0C75-6F1C-1C53-008848D6E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993" y="1945829"/>
            <a:ext cx="486321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dataset complexity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logistic regression model starts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31C90-59E3-1D24-CAB6-183EBCE81B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85538" y="3059589"/>
            <a:ext cx="8596662" cy="338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56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3D00B-8A03-8A13-7765-7C5128517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B674-CAB3-B7D6-FA0D-A0E244E68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C46CA-FB2F-B27B-19F2-0CDB58B64F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000BBCEC-5583-54C3-B1BE-98A672E2EC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BBADD31-F0D3-F508-5548-0324C8FA04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DC01A3-C247-0FFC-8ECA-E736BFF4258A}"/>
              </a:ext>
            </a:extLst>
          </p:cNvPr>
          <p:cNvSpPr txBox="1">
            <a:spLocks/>
          </p:cNvSpPr>
          <p:nvPr/>
        </p:nvSpPr>
        <p:spPr>
          <a:xfrm>
            <a:off x="1282438" y="745440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LightGBM </a:t>
            </a:r>
          </a:p>
          <a:p>
            <a:r>
              <a:rPr lang="en-US" dirty="0">
                <a:solidFill>
                  <a:srgbClr val="091E40"/>
                </a:solidFill>
              </a:rPr>
              <a:t>Model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596509-E519-6852-7A6B-FE57543D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14</a:t>
            </a:fld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F1827D8-55D6-92E8-31B9-04E7ADFCB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57" y="1871233"/>
            <a:ext cx="640187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Baseline, lowest performance (0.709)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Biggest jump from added complexity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103392-4D49-934C-E52D-1D16B140F588}"/>
              </a:ext>
            </a:extLst>
          </p:cNvPr>
          <p:cNvSpPr txBox="1"/>
          <p:nvPr/>
        </p:nvSpPr>
        <p:spPr>
          <a:xfrm>
            <a:off x="6147992" y="1871233"/>
            <a:ext cx="5771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V3-V5: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significant gains from additional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Clinical counts boosted final AUROC (0.769)</a:t>
            </a:r>
          </a:p>
        </p:txBody>
      </p:sp>
      <p:pic>
        <p:nvPicPr>
          <p:cNvPr id="4" name="Picture 3" descr="A graph of a graph">
            <a:extLst>
              <a:ext uri="{FF2B5EF4-FFF2-40B4-BE49-F238E27FC236}">
                <a16:creationId xmlns:a16="http://schemas.microsoft.com/office/drawing/2014/main" id="{CB75F06B-3247-347A-48AD-D9DF3978C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438" y="3095679"/>
            <a:ext cx="9522832" cy="326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57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365DC-8700-24BC-EB35-55B09D44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F107-B558-2486-4088-D03E836E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1BB37-1974-6E26-5C1A-444146E537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0A1442AD-481C-4F0C-6464-40D78A4717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6702D5F-FDAC-A093-6C7E-1B6CE6CDCF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527C204-3FD9-EF8D-2DEB-DED7880955A5}"/>
              </a:ext>
            </a:extLst>
          </p:cNvPr>
          <p:cNvSpPr txBox="1">
            <a:spLocks/>
          </p:cNvSpPr>
          <p:nvPr/>
        </p:nvSpPr>
        <p:spPr>
          <a:xfrm>
            <a:off x="2265941" y="1007980"/>
            <a:ext cx="7660117" cy="753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XGBoost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CB00BE-1A32-F325-3BE4-75527699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15</a:t>
            </a:fld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9CE00762-4904-3FA4-CFEB-9242E6CC6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169" y="1729379"/>
            <a:ext cx="44828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 dataset with low features gave us low performance (0.7070)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Biggest jump from added features and complexity (0.7629)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C5ADF1-12D9-6A5E-BDF8-F52DF8D20A18}"/>
              </a:ext>
            </a:extLst>
          </p:cNvPr>
          <p:cNvSpPr txBox="1"/>
          <p:nvPr/>
        </p:nvSpPr>
        <p:spPr>
          <a:xfrm>
            <a:off x="7181592" y="1784913"/>
            <a:ext cx="37503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V3-V5: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Significant Gains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Clinical counts features boosted final AUROC (0.7711)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4893D-2990-EE51-9212-64E6384AF0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804" y="3358871"/>
            <a:ext cx="8086389" cy="318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EE2C9-24AB-CA13-9E19-7EB525F7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9404-2B83-83D7-A2EA-FB984AE5B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15B81-1E08-1D26-2766-EB7747034D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D7471952-DF99-11FC-825C-47A46503F5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58C9A84-8E8D-8B58-36AD-9DF234D37C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F62ECE-38FA-122C-C978-63175BBF9464}"/>
              </a:ext>
            </a:extLst>
          </p:cNvPr>
          <p:cNvSpPr txBox="1">
            <a:spLocks/>
          </p:cNvSpPr>
          <p:nvPr/>
        </p:nvSpPr>
        <p:spPr>
          <a:xfrm>
            <a:off x="2265941" y="1007980"/>
            <a:ext cx="7660117" cy="753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MLP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5173D-EFD6-9155-0EFC-67EBDD7E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16</a:t>
            </a:fld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DE0D68F-FC2A-49F2-49E5-763A0A52D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56279"/>
            <a:ext cx="38577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V6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obtains the best result but not by a significant margin.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08035B-B846-F13C-F050-B16AA8FF56FB}"/>
              </a:ext>
            </a:extLst>
          </p:cNvPr>
          <p:cNvSpPr txBox="1"/>
          <p:nvPr/>
        </p:nvSpPr>
        <p:spPr>
          <a:xfrm>
            <a:off x="6201117" y="1887847"/>
            <a:ext cx="49948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Best Model Layer Architecture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[128, 64] may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underfitting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complexity required from the datasets.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16A4E-0EDE-8C98-3076-60114E45ED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99281" y="3045916"/>
            <a:ext cx="8636473" cy="339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69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5069E-52D7-8B44-4732-A4C9D1D6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1BC7-4228-F490-2B7F-0FCF7E3D5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17" y="978804"/>
            <a:ext cx="9144000" cy="97747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C35F5-A30E-3D17-B6C5-2CA92BA544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FCE79BAB-7601-0AE6-33B3-44D9B87009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37C4768-6267-B979-683D-9B15D9A172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C9F3377-D4FC-7D50-A884-D9921291BE19}"/>
              </a:ext>
            </a:extLst>
          </p:cNvPr>
          <p:cNvSpPr txBox="1">
            <a:spLocks/>
          </p:cNvSpPr>
          <p:nvPr/>
        </p:nvSpPr>
        <p:spPr>
          <a:xfrm>
            <a:off x="954159" y="1200345"/>
            <a:ext cx="10272287" cy="8265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Advanced Neural Networks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F024E-0076-047B-A059-B6869C07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17</a:t>
            </a:fld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63E9CC-63B4-3733-CB18-35C05F609C83}"/>
              </a:ext>
            </a:extLst>
          </p:cNvPr>
          <p:cNvSpPr/>
          <p:nvPr/>
        </p:nvSpPr>
        <p:spPr>
          <a:xfrm>
            <a:off x="1975502" y="211278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i="1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i="1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Capture temporal dynamics, feature interactions and complementary signals beyond basic MLPs</a:t>
            </a:r>
            <a:endParaRPr lang="en-US" sz="1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E0D37-5750-953C-42CF-6CB455E84158}"/>
              </a:ext>
            </a:extLst>
          </p:cNvPr>
          <p:cNvGrpSpPr/>
          <p:nvPr/>
        </p:nvGrpSpPr>
        <p:grpSpPr>
          <a:xfrm>
            <a:off x="4741562" y="3000266"/>
            <a:ext cx="2967344" cy="2834363"/>
            <a:chOff x="4287213" y="3002530"/>
            <a:chExt cx="2967344" cy="2834363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E36C42DF-E70B-1FBF-D8AB-0FF5C5867C46}"/>
                </a:ext>
              </a:extLst>
            </p:cNvPr>
            <p:cNvSpPr/>
            <p:nvPr/>
          </p:nvSpPr>
          <p:spPr>
            <a:xfrm>
              <a:off x="4287213" y="3093693"/>
              <a:ext cx="2697480" cy="2743200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Sequence models that learn from</a:t>
              </a:r>
              <a:endParaRPr lang="en-US" sz="1200" dirty="0"/>
            </a:p>
            <a:p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patient admission history.</a:t>
              </a:r>
              <a:endParaRPr lang="en-US" sz="1200" dirty="0"/>
            </a:p>
            <a:p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Capture temporal patterns across</a:t>
              </a:r>
              <a:endParaRPr lang="en-US" sz="1200" dirty="0"/>
            </a:p>
            <a:p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prior hospitalizations.</a:t>
              </a:r>
              <a:endParaRPr lang="en-US" sz="120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C5575078-7BD9-F8F9-7A55-75A0C9130754}"/>
                </a:ext>
              </a:extLst>
            </p:cNvPr>
            <p:cNvSpPr/>
            <p:nvPr/>
          </p:nvSpPr>
          <p:spPr>
            <a:xfrm>
              <a:off x="4287213" y="3002530"/>
              <a:ext cx="2697480" cy="73152"/>
            </a:xfrm>
            <a:prstGeom prst="rect">
              <a:avLst/>
            </a:prstGeom>
            <a:solidFill>
              <a:srgbClr val="091E4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4CC3F64D-1BA0-24CB-337B-A823D1533965}"/>
                </a:ext>
              </a:extLst>
            </p:cNvPr>
            <p:cNvSpPr/>
            <p:nvPr/>
          </p:nvSpPr>
          <p:spPr>
            <a:xfrm>
              <a:off x="4404380" y="3189352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88888"/>
                  </a:solidFill>
                  <a:ea typeface="Calibri" pitchFamily="34" charset="-122"/>
                  <a:cs typeface="Calibri" pitchFamily="34" charset="-120"/>
                </a:rPr>
                <a:t>Temporal Models </a:t>
              </a:r>
              <a:endParaRPr lang="en-US" sz="12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C98275F6-49DC-E13E-9EEA-3860484FF774}"/>
                </a:ext>
              </a:extLst>
            </p:cNvPr>
            <p:cNvSpPr/>
            <p:nvPr/>
          </p:nvSpPr>
          <p:spPr>
            <a:xfrm>
              <a:off x="4404380" y="3504205"/>
              <a:ext cx="2850177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6862C"/>
                  </a:solidFill>
                  <a:ea typeface="Georgia" pitchFamily="34" charset="-122"/>
                  <a:cs typeface="Georgia" pitchFamily="34" charset="-120"/>
                </a:rPr>
                <a:t>LSTM &amp; GRU Hybrids</a:t>
              </a:r>
              <a:endParaRPr lang="en-US" sz="2000" dirty="0">
                <a:solidFill>
                  <a:srgbClr val="B6862C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B3B3B20-2ECD-B59F-CB12-4F6EFE22D2C6}"/>
              </a:ext>
            </a:extLst>
          </p:cNvPr>
          <p:cNvGrpSpPr/>
          <p:nvPr/>
        </p:nvGrpSpPr>
        <p:grpSpPr>
          <a:xfrm>
            <a:off x="1393851" y="3009271"/>
            <a:ext cx="2697480" cy="2816352"/>
            <a:chOff x="939502" y="3002530"/>
            <a:chExt cx="2697480" cy="2816352"/>
          </a:xfrm>
        </p:grpSpPr>
        <p:sp>
          <p:nvSpPr>
            <p:cNvPr id="12" name="Shape 12">
              <a:extLst>
                <a:ext uri="{FF2B5EF4-FFF2-40B4-BE49-F238E27FC236}">
                  <a16:creationId xmlns:a16="http://schemas.microsoft.com/office/drawing/2014/main" id="{1DD105DE-8BE5-AD9F-EC8A-707E296B09DE}"/>
                </a:ext>
              </a:extLst>
            </p:cNvPr>
            <p:cNvSpPr/>
            <p:nvPr/>
          </p:nvSpPr>
          <p:spPr>
            <a:xfrm>
              <a:off x="939502" y="3075682"/>
              <a:ext cx="2697480" cy="2743200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13">
              <a:extLst>
                <a:ext uri="{FF2B5EF4-FFF2-40B4-BE49-F238E27FC236}">
                  <a16:creationId xmlns:a16="http://schemas.microsoft.com/office/drawing/2014/main" id="{5AB7B2CE-ABCD-91ED-8466-A3D844F98BF6}"/>
                </a:ext>
              </a:extLst>
            </p:cNvPr>
            <p:cNvSpPr/>
            <p:nvPr/>
          </p:nvSpPr>
          <p:spPr>
            <a:xfrm>
              <a:off x="939502" y="3002530"/>
              <a:ext cx="2697480" cy="73152"/>
            </a:xfrm>
            <a:prstGeom prst="rect">
              <a:avLst/>
            </a:prstGeom>
            <a:solidFill>
              <a:srgbClr val="091E4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081E0B6A-14BC-474A-B450-1F404FDEECE6}"/>
                </a:ext>
              </a:extLst>
            </p:cNvPr>
            <p:cNvSpPr/>
            <p:nvPr/>
          </p:nvSpPr>
          <p:spPr>
            <a:xfrm>
              <a:off x="1028075" y="3177276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88888"/>
                  </a:solidFill>
                  <a:ea typeface="Calibri" pitchFamily="34" charset="-122"/>
                  <a:cs typeface="Calibri" pitchFamily="34" charset="-120"/>
                </a:rPr>
                <a:t>Attention-Based tabular Model </a:t>
              </a:r>
              <a:endParaRPr lang="en-US" sz="12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FA28B1B2-E606-B9F0-7959-B412E94FD1F6}"/>
                </a:ext>
              </a:extLst>
            </p:cNvPr>
            <p:cNvSpPr/>
            <p:nvPr/>
          </p:nvSpPr>
          <p:spPr>
            <a:xfrm>
              <a:off x="1028075" y="4065386"/>
              <a:ext cx="2423160" cy="9644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Tokenizes each feature and uses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self-attention to discover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feature-to-feature interactions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automatically.</a:t>
              </a:r>
              <a:endParaRPr lang="en-US" sz="1200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86438A5B-0FF5-2CC4-FDDE-EF2BAE62C469}"/>
                </a:ext>
              </a:extLst>
            </p:cNvPr>
            <p:cNvSpPr/>
            <p:nvPr/>
          </p:nvSpPr>
          <p:spPr>
            <a:xfrm>
              <a:off x="1028075" y="3464608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6862C"/>
                  </a:solidFill>
                  <a:ea typeface="Georgia" pitchFamily="34" charset="-122"/>
                  <a:cs typeface="Georgia" pitchFamily="34" charset="-120"/>
                </a:rPr>
                <a:t>FT-Transformer</a:t>
              </a:r>
              <a:endParaRPr lang="en-US" sz="2000" dirty="0">
                <a:solidFill>
                  <a:srgbClr val="B6862C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ADC31E1-8E05-A66F-4F03-BB6444977F90}"/>
              </a:ext>
            </a:extLst>
          </p:cNvPr>
          <p:cNvGrpSpPr/>
          <p:nvPr/>
        </p:nvGrpSpPr>
        <p:grpSpPr>
          <a:xfrm>
            <a:off x="8089273" y="3009271"/>
            <a:ext cx="2697480" cy="2816352"/>
            <a:chOff x="7904788" y="3002530"/>
            <a:chExt cx="2697480" cy="2816352"/>
          </a:xfrm>
        </p:grpSpPr>
        <p:sp>
          <p:nvSpPr>
            <p:cNvPr id="14" name="Shape 17">
              <a:extLst>
                <a:ext uri="{FF2B5EF4-FFF2-40B4-BE49-F238E27FC236}">
                  <a16:creationId xmlns:a16="http://schemas.microsoft.com/office/drawing/2014/main" id="{1506248B-EF22-D9B3-17EB-084371239A3A}"/>
                </a:ext>
              </a:extLst>
            </p:cNvPr>
            <p:cNvSpPr/>
            <p:nvPr/>
          </p:nvSpPr>
          <p:spPr>
            <a:xfrm>
              <a:off x="7904788" y="3075682"/>
              <a:ext cx="2697480" cy="2743200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95BC1AFB-444A-4821-2872-D4DDE6AC98F0}"/>
                </a:ext>
              </a:extLst>
            </p:cNvPr>
            <p:cNvSpPr/>
            <p:nvPr/>
          </p:nvSpPr>
          <p:spPr>
            <a:xfrm>
              <a:off x="7904788" y="3002530"/>
              <a:ext cx="2697480" cy="73152"/>
            </a:xfrm>
            <a:prstGeom prst="rect">
              <a:avLst/>
            </a:prstGeom>
            <a:solidFill>
              <a:srgbClr val="091E40"/>
            </a:solidFill>
            <a:ln>
              <a:solidFill>
                <a:srgbClr val="091E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DA56B016-9910-0CEA-6F16-4941D80AB891}"/>
                </a:ext>
              </a:extLst>
            </p:cNvPr>
            <p:cNvSpPr/>
            <p:nvPr/>
          </p:nvSpPr>
          <p:spPr>
            <a:xfrm>
              <a:off x="8041948" y="3190719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88888"/>
                  </a:solidFill>
                  <a:ea typeface="Calibri" pitchFamily="34" charset="-122"/>
                  <a:cs typeface="Calibri" pitchFamily="34" charset="-120"/>
                </a:rPr>
                <a:t>Ensemble Stacking  </a:t>
              </a:r>
              <a:endParaRPr lang="en-US" sz="1200" dirty="0"/>
            </a:p>
          </p:txBody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DE1BC254-42B1-D8B6-6553-69355A421934}"/>
                </a:ext>
              </a:extLst>
            </p:cNvPr>
            <p:cNvSpPr/>
            <p:nvPr/>
          </p:nvSpPr>
          <p:spPr>
            <a:xfrm>
              <a:off x="8001962" y="3507219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6862C"/>
                  </a:solidFill>
                  <a:ea typeface="Georgia" pitchFamily="34" charset="-122"/>
                  <a:cs typeface="Georgia" pitchFamily="34" charset="-120"/>
                </a:rPr>
                <a:t>Stacking Ensemble</a:t>
              </a:r>
              <a:endParaRPr lang="en-US" sz="2000" dirty="0">
                <a:solidFill>
                  <a:srgbClr val="B6862C"/>
                </a:solidFill>
              </a:endParaRPr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D070CE55-6528-D84D-C1FC-C5154865B5FA}"/>
                </a:ext>
              </a:extLst>
            </p:cNvPr>
            <p:cNvSpPr/>
            <p:nvPr/>
          </p:nvSpPr>
          <p:spPr>
            <a:xfrm>
              <a:off x="8041948" y="4155784"/>
              <a:ext cx="24231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Combines all architectures via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a meta-learner that weights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each model's predictions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444444"/>
                  </a:solidFill>
                  <a:ea typeface="Calibri" pitchFamily="34" charset="-122"/>
                  <a:cs typeface="Calibri" pitchFamily="34" charset="-120"/>
                </a:rPr>
                <a:t>for optimal blending.</a:t>
              </a:r>
              <a:endParaRPr lang="en-US" sz="1200" dirty="0"/>
            </a:p>
          </p:txBody>
        </p:sp>
      </p:grpSp>
      <p:sp>
        <p:nvSpPr>
          <p:cNvPr id="28" name="Text 21">
            <a:extLst>
              <a:ext uri="{FF2B5EF4-FFF2-40B4-BE49-F238E27FC236}">
                <a16:creationId xmlns:a16="http://schemas.microsoft.com/office/drawing/2014/main" id="{FC6C7620-6D6E-AD0D-73ED-F0506EDAAB83}"/>
              </a:ext>
            </a:extLst>
          </p:cNvPr>
          <p:cNvSpPr/>
          <p:nvPr/>
        </p:nvSpPr>
        <p:spPr>
          <a:xfrm>
            <a:off x="762148" y="6045021"/>
            <a:ext cx="60559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2DE29-778E-53CB-4A12-C8C16D02CDBC}"/>
              </a:ext>
            </a:extLst>
          </p:cNvPr>
          <p:cNvSpPr txBox="1"/>
          <p:nvPr/>
        </p:nvSpPr>
        <p:spPr>
          <a:xfrm>
            <a:off x="885566" y="6529664"/>
            <a:ext cx="11541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LSTM</a:t>
            </a:r>
            <a:r>
              <a:rPr lang="en-US" sz="1200" dirty="0"/>
              <a:t> = Long Short-Term Memory </a:t>
            </a:r>
            <a:r>
              <a:rPr lang="en-US" sz="1600" b="1" dirty="0"/>
              <a:t>· </a:t>
            </a:r>
            <a:r>
              <a:rPr lang="en-US" sz="1200" b="1" dirty="0"/>
              <a:t>GRU</a:t>
            </a:r>
            <a:r>
              <a:rPr lang="en-US" sz="1200" dirty="0"/>
              <a:t> = Gated Recurrent Unit</a:t>
            </a:r>
            <a:r>
              <a:rPr lang="en-US" sz="1600" b="1" dirty="0"/>
              <a:t> · </a:t>
            </a:r>
            <a:r>
              <a:rPr lang="en-US" sz="1200" b="1" dirty="0"/>
              <a:t>FT-Transformer</a:t>
            </a:r>
            <a:r>
              <a:rPr lang="en-US" sz="1200" dirty="0"/>
              <a:t> = Feature-Tokenizer Transformer</a:t>
            </a:r>
          </a:p>
        </p:txBody>
      </p:sp>
    </p:spTree>
    <p:extLst>
      <p:ext uri="{BB962C8B-B14F-4D97-AF65-F5344CB8AC3E}">
        <p14:creationId xmlns:p14="http://schemas.microsoft.com/office/powerpoint/2010/main" val="391181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BF3CF-3FBC-D74C-522A-D61C06F7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39A99C-6273-2A70-2F09-75CC7525AD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59A8C732-3336-3BEB-8811-016EA7A271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426493-96F6-E6E2-1E2E-C1B68BFDD8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1803AEF-D8C6-94AE-8BBE-4E898CF934E0}"/>
              </a:ext>
            </a:extLst>
          </p:cNvPr>
          <p:cNvSpPr txBox="1">
            <a:spLocks/>
          </p:cNvSpPr>
          <p:nvPr/>
        </p:nvSpPr>
        <p:spPr>
          <a:xfrm>
            <a:off x="1881427" y="1260656"/>
            <a:ext cx="7660117" cy="753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FT-Transformer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1B4CCB-23D6-02C8-A78D-BDDDACA8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18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BA657E-C71B-308A-C503-8C63550C5933}"/>
              </a:ext>
            </a:extLst>
          </p:cNvPr>
          <p:cNvSpPr txBox="1"/>
          <p:nvPr/>
        </p:nvSpPr>
        <p:spPr>
          <a:xfrm>
            <a:off x="1233079" y="5668575"/>
            <a:ext cx="42536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Transformer architecture for tabular data (</a:t>
            </a:r>
            <a:r>
              <a:rPr lang="en-US" sz="1000" i="1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Gorishniy</a:t>
            </a: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2021)</a:t>
            </a: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F727CB-FE9B-C339-7A6F-DAE3E8DE705E}"/>
              </a:ext>
            </a:extLst>
          </p:cNvPr>
          <p:cNvSpPr txBox="1"/>
          <p:nvPr/>
        </p:nvSpPr>
        <p:spPr>
          <a:xfrm>
            <a:off x="533401" y="65829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FT-Transformer</a:t>
            </a:r>
            <a:r>
              <a:rPr lang="en-US" sz="1200" dirty="0"/>
              <a:t> = Feature-Tokenizer Transformer </a:t>
            </a:r>
            <a:r>
              <a:rPr lang="en-US" sz="1200" b="1" dirty="0"/>
              <a:t>| [CLS] </a:t>
            </a:r>
            <a:r>
              <a:rPr lang="en-US" sz="1200" dirty="0"/>
              <a:t>= Classification token </a:t>
            </a:r>
          </a:p>
        </p:txBody>
      </p:sp>
      <p:sp>
        <p:nvSpPr>
          <p:cNvPr id="97" name="Shape 3">
            <a:extLst>
              <a:ext uri="{FF2B5EF4-FFF2-40B4-BE49-F238E27FC236}">
                <a16:creationId xmlns:a16="http://schemas.microsoft.com/office/drawing/2014/main" id="{690DC448-EDE0-9B17-043D-AC1B99AB0A38}"/>
              </a:ext>
            </a:extLst>
          </p:cNvPr>
          <p:cNvSpPr/>
          <p:nvPr/>
        </p:nvSpPr>
        <p:spPr>
          <a:xfrm>
            <a:off x="1348203" y="2346547"/>
            <a:ext cx="393192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DC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4">
            <a:extLst>
              <a:ext uri="{FF2B5EF4-FFF2-40B4-BE49-F238E27FC236}">
                <a16:creationId xmlns:a16="http://schemas.microsoft.com/office/drawing/2014/main" id="{447B098F-30C4-03FB-F6A6-420A723D2867}"/>
              </a:ext>
            </a:extLst>
          </p:cNvPr>
          <p:cNvSpPr/>
          <p:nvPr/>
        </p:nvSpPr>
        <p:spPr>
          <a:xfrm>
            <a:off x="1348203" y="2346547"/>
            <a:ext cx="3931920" cy="411480"/>
          </a:xfrm>
          <a:prstGeom prst="rect">
            <a:avLst/>
          </a:prstGeom>
          <a:solidFill>
            <a:srgbClr val="081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5">
            <a:extLst>
              <a:ext uri="{FF2B5EF4-FFF2-40B4-BE49-F238E27FC236}">
                <a16:creationId xmlns:a16="http://schemas.microsoft.com/office/drawing/2014/main" id="{6B9BE18B-7CB3-DF8A-C6CB-851D42C7940C}"/>
              </a:ext>
            </a:extLst>
          </p:cNvPr>
          <p:cNvSpPr/>
          <p:nvPr/>
        </p:nvSpPr>
        <p:spPr>
          <a:xfrm>
            <a:off x="1531083" y="2364835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100" name="Shape 6">
            <a:extLst>
              <a:ext uri="{FF2B5EF4-FFF2-40B4-BE49-F238E27FC236}">
                <a16:creationId xmlns:a16="http://schemas.microsoft.com/office/drawing/2014/main" id="{13D42FE0-6351-FD93-3D11-5B29F5098921}"/>
              </a:ext>
            </a:extLst>
          </p:cNvPr>
          <p:cNvSpPr/>
          <p:nvPr/>
        </p:nvSpPr>
        <p:spPr>
          <a:xfrm>
            <a:off x="1531083" y="2876899"/>
            <a:ext cx="54864" cy="530352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7">
            <a:extLst>
              <a:ext uri="{FF2B5EF4-FFF2-40B4-BE49-F238E27FC236}">
                <a16:creationId xmlns:a16="http://schemas.microsoft.com/office/drawing/2014/main" id="{4D2052D0-98CB-E2D4-3B59-284897E4A43E}"/>
              </a:ext>
            </a:extLst>
          </p:cNvPr>
          <p:cNvSpPr/>
          <p:nvPr/>
        </p:nvSpPr>
        <p:spPr>
          <a:xfrm>
            <a:off x="1713963" y="2876899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en-US" sz="1100" b="1" dirty="0">
                <a:solidFill>
                  <a:srgbClr val="B6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Tokenizer</a:t>
            </a:r>
            <a:endParaRPr lang="en-US" sz="1100" dirty="0"/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E4BC6647-E31F-E118-5E6C-EB54B3BBE9D1}"/>
              </a:ext>
            </a:extLst>
          </p:cNvPr>
          <p:cNvSpPr/>
          <p:nvPr/>
        </p:nvSpPr>
        <p:spPr>
          <a:xfrm>
            <a:off x="1692697" y="3078067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+ categorical features → individual d-dimensional vector</a:t>
            </a:r>
            <a:endParaRPr lang="en-US" sz="1050" dirty="0"/>
          </a:p>
        </p:txBody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59855597-CCAF-4673-0308-5AFABCB57201}"/>
              </a:ext>
            </a:extLst>
          </p:cNvPr>
          <p:cNvSpPr/>
          <p:nvPr/>
        </p:nvSpPr>
        <p:spPr>
          <a:xfrm>
            <a:off x="1531083" y="3535267"/>
            <a:ext cx="54864" cy="530352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">
            <a:extLst>
              <a:ext uri="{FF2B5EF4-FFF2-40B4-BE49-F238E27FC236}">
                <a16:creationId xmlns:a16="http://schemas.microsoft.com/office/drawing/2014/main" id="{D110500F-5087-115A-94A5-8E791AF09E14}"/>
              </a:ext>
            </a:extLst>
          </p:cNvPr>
          <p:cNvSpPr/>
          <p:nvPr/>
        </p:nvSpPr>
        <p:spPr>
          <a:xfrm>
            <a:off x="1713963" y="3535267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</a:t>
            </a:r>
            <a:endParaRPr lang="en-US" sz="140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1721F5D1-0590-1E25-408F-1658C406E178}"/>
              </a:ext>
            </a:extLst>
          </p:cNvPr>
          <p:cNvSpPr/>
          <p:nvPr/>
        </p:nvSpPr>
        <p:spPr>
          <a:xfrm>
            <a:off x="1713963" y="3736435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summary token prepended to the feature tokens</a:t>
            </a:r>
            <a:endParaRPr lang="en-US" sz="1050" dirty="0"/>
          </a:p>
        </p:txBody>
      </p:sp>
      <p:sp>
        <p:nvSpPr>
          <p:cNvPr id="106" name="Shape 12">
            <a:extLst>
              <a:ext uri="{FF2B5EF4-FFF2-40B4-BE49-F238E27FC236}">
                <a16:creationId xmlns:a16="http://schemas.microsoft.com/office/drawing/2014/main" id="{88A3D538-6ECA-3A81-0F37-7A91206A73ED}"/>
              </a:ext>
            </a:extLst>
          </p:cNvPr>
          <p:cNvSpPr/>
          <p:nvPr/>
        </p:nvSpPr>
        <p:spPr>
          <a:xfrm>
            <a:off x="1531083" y="4193635"/>
            <a:ext cx="54864" cy="530352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3">
            <a:extLst>
              <a:ext uri="{FF2B5EF4-FFF2-40B4-BE49-F238E27FC236}">
                <a16:creationId xmlns:a16="http://schemas.microsoft.com/office/drawing/2014/main" id="{45582F49-8A1C-325A-073B-F2B732B5C1D5}"/>
              </a:ext>
            </a:extLst>
          </p:cNvPr>
          <p:cNvSpPr/>
          <p:nvPr/>
        </p:nvSpPr>
        <p:spPr>
          <a:xfrm>
            <a:off x="1713963" y="4193635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400" dirty="0"/>
          </a:p>
        </p:txBody>
      </p:sp>
      <p:sp>
        <p:nvSpPr>
          <p:cNvPr id="108" name="Text 14">
            <a:extLst>
              <a:ext uri="{FF2B5EF4-FFF2-40B4-BE49-F238E27FC236}">
                <a16:creationId xmlns:a16="http://schemas.microsoft.com/office/drawing/2014/main" id="{9AF5BAB3-B805-CA05-871A-29C8B3C86050}"/>
              </a:ext>
            </a:extLst>
          </p:cNvPr>
          <p:cNvSpPr/>
          <p:nvPr/>
        </p:nvSpPr>
        <p:spPr>
          <a:xfrm>
            <a:off x="1713963" y="4394803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attends to all others: discovers which features interact</a:t>
            </a:r>
            <a:endParaRPr lang="en-US" sz="1050" dirty="0"/>
          </a:p>
        </p:txBody>
      </p:sp>
      <p:sp>
        <p:nvSpPr>
          <p:cNvPr id="109" name="Shape 15">
            <a:extLst>
              <a:ext uri="{FF2B5EF4-FFF2-40B4-BE49-F238E27FC236}">
                <a16:creationId xmlns:a16="http://schemas.microsoft.com/office/drawing/2014/main" id="{694A6F5D-C842-6DF4-B1BA-CBA9AC1442F4}"/>
              </a:ext>
            </a:extLst>
          </p:cNvPr>
          <p:cNvSpPr/>
          <p:nvPr/>
        </p:nvSpPr>
        <p:spPr>
          <a:xfrm>
            <a:off x="1531083" y="4852003"/>
            <a:ext cx="54864" cy="530352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6">
            <a:extLst>
              <a:ext uri="{FF2B5EF4-FFF2-40B4-BE49-F238E27FC236}">
                <a16:creationId xmlns:a16="http://schemas.microsoft.com/office/drawing/2014/main" id="{366CBA22-AB00-329A-0716-32E6D0C9D03E}"/>
              </a:ext>
            </a:extLst>
          </p:cNvPr>
          <p:cNvSpPr/>
          <p:nvPr/>
        </p:nvSpPr>
        <p:spPr>
          <a:xfrm>
            <a:off x="1713963" y="4852003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11" name="Text 17">
            <a:extLst>
              <a:ext uri="{FF2B5EF4-FFF2-40B4-BE49-F238E27FC236}">
                <a16:creationId xmlns:a16="http://schemas.microsoft.com/office/drawing/2014/main" id="{B2140E1B-C033-1C5E-A3F0-9573F0EB696E}"/>
              </a:ext>
            </a:extLst>
          </p:cNvPr>
          <p:cNvSpPr/>
          <p:nvPr/>
        </p:nvSpPr>
        <p:spPr>
          <a:xfrm>
            <a:off x="1713963" y="5053171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output → LayerNorm → Dense(64) → Sigmoid → readmission probability</a:t>
            </a:r>
            <a:endParaRPr lang="en-US" sz="1050" dirty="0"/>
          </a:p>
        </p:txBody>
      </p:sp>
      <p:sp>
        <p:nvSpPr>
          <p:cNvPr id="112" name="Shape 18">
            <a:extLst>
              <a:ext uri="{FF2B5EF4-FFF2-40B4-BE49-F238E27FC236}">
                <a16:creationId xmlns:a16="http://schemas.microsoft.com/office/drawing/2014/main" id="{45902A37-BFCE-7300-6227-50CDCC098CF3}"/>
              </a:ext>
            </a:extLst>
          </p:cNvPr>
          <p:cNvSpPr/>
          <p:nvPr/>
        </p:nvSpPr>
        <p:spPr>
          <a:xfrm>
            <a:off x="6371948" y="2346547"/>
            <a:ext cx="393192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DC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9">
            <a:extLst>
              <a:ext uri="{FF2B5EF4-FFF2-40B4-BE49-F238E27FC236}">
                <a16:creationId xmlns:a16="http://schemas.microsoft.com/office/drawing/2014/main" id="{158DB320-A30B-EEB0-5B89-E7585E42EEB2}"/>
              </a:ext>
            </a:extLst>
          </p:cNvPr>
          <p:cNvSpPr/>
          <p:nvPr/>
        </p:nvSpPr>
        <p:spPr>
          <a:xfrm>
            <a:off x="6371948" y="2346547"/>
            <a:ext cx="3931920" cy="411480"/>
          </a:xfrm>
          <a:prstGeom prst="rect">
            <a:avLst/>
          </a:prstGeom>
          <a:solidFill>
            <a:srgbClr val="081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20">
            <a:extLst>
              <a:ext uri="{FF2B5EF4-FFF2-40B4-BE49-F238E27FC236}">
                <a16:creationId xmlns:a16="http://schemas.microsoft.com/office/drawing/2014/main" id="{11F17075-977B-391F-F8CC-6DF4EFE165FA}"/>
              </a:ext>
            </a:extLst>
          </p:cNvPr>
          <p:cNvSpPr/>
          <p:nvPr/>
        </p:nvSpPr>
        <p:spPr>
          <a:xfrm>
            <a:off x="6554828" y="2364835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Adds Value</a:t>
            </a:r>
            <a:endParaRPr lang="en-US" dirty="0"/>
          </a:p>
        </p:txBody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1EDA3BBA-68A8-0087-830A-407658D449A9}"/>
              </a:ext>
            </a:extLst>
          </p:cNvPr>
          <p:cNvSpPr/>
          <p:nvPr/>
        </p:nvSpPr>
        <p:spPr>
          <a:xfrm>
            <a:off x="6554828" y="2876899"/>
            <a:ext cx="54864" cy="566928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22">
            <a:extLst>
              <a:ext uri="{FF2B5EF4-FFF2-40B4-BE49-F238E27FC236}">
                <a16:creationId xmlns:a16="http://schemas.microsoft.com/office/drawing/2014/main" id="{3BA0BECF-F3FB-75C2-5C8C-FA617155384F}"/>
              </a:ext>
            </a:extLst>
          </p:cNvPr>
          <p:cNvSpPr/>
          <p:nvPr/>
        </p:nvSpPr>
        <p:spPr>
          <a:xfrm>
            <a:off x="6737708" y="2876899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MLPs</a:t>
            </a:r>
            <a:endParaRPr lang="en-US" sz="1400" dirty="0"/>
          </a:p>
        </p:txBody>
      </p:sp>
      <p:sp>
        <p:nvSpPr>
          <p:cNvPr id="117" name="Text 23">
            <a:extLst>
              <a:ext uri="{FF2B5EF4-FFF2-40B4-BE49-F238E27FC236}">
                <a16:creationId xmlns:a16="http://schemas.microsoft.com/office/drawing/2014/main" id="{FEA25296-681D-A3BF-1067-193279A34936}"/>
              </a:ext>
            </a:extLst>
          </p:cNvPr>
          <p:cNvSpPr/>
          <p:nvPr/>
        </p:nvSpPr>
        <p:spPr>
          <a:xfrm>
            <a:off x="6737708" y="3096355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all features together: interactions emerge implicitly through layers</a:t>
            </a:r>
            <a:endParaRPr lang="en-US" sz="1050" dirty="0"/>
          </a:p>
        </p:txBody>
      </p:sp>
      <p:sp>
        <p:nvSpPr>
          <p:cNvPr id="118" name="Shape 24">
            <a:extLst>
              <a:ext uri="{FF2B5EF4-FFF2-40B4-BE49-F238E27FC236}">
                <a16:creationId xmlns:a16="http://schemas.microsoft.com/office/drawing/2014/main" id="{89D42274-0783-CEBD-EDD1-B49726A2DA50}"/>
              </a:ext>
            </a:extLst>
          </p:cNvPr>
          <p:cNvSpPr/>
          <p:nvPr/>
        </p:nvSpPr>
        <p:spPr>
          <a:xfrm>
            <a:off x="6554828" y="3590131"/>
            <a:ext cx="54864" cy="566928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25">
            <a:extLst>
              <a:ext uri="{FF2B5EF4-FFF2-40B4-BE49-F238E27FC236}">
                <a16:creationId xmlns:a16="http://schemas.microsoft.com/office/drawing/2014/main" id="{54F8BFE2-59FE-FCC1-3D77-1904625C1F6B}"/>
              </a:ext>
            </a:extLst>
          </p:cNvPr>
          <p:cNvSpPr/>
          <p:nvPr/>
        </p:nvSpPr>
        <p:spPr>
          <a:xfrm>
            <a:off x="6737708" y="3590131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20" name="Text 26">
            <a:extLst>
              <a:ext uri="{FF2B5EF4-FFF2-40B4-BE49-F238E27FC236}">
                <a16:creationId xmlns:a16="http://schemas.microsoft.com/office/drawing/2014/main" id="{9A8DA968-E1A8-4DD9-9ACF-6F3EF64F9339}"/>
              </a:ext>
            </a:extLst>
          </p:cNvPr>
          <p:cNvSpPr/>
          <p:nvPr/>
        </p:nvSpPr>
        <p:spPr>
          <a:xfrm>
            <a:off x="6737708" y="3809587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interactions via sequential tree splits: locally greedy</a:t>
            </a:r>
            <a:endParaRPr lang="en-US" sz="1050" dirty="0"/>
          </a:p>
        </p:txBody>
      </p:sp>
      <p:sp>
        <p:nvSpPr>
          <p:cNvPr id="121" name="Shape 27">
            <a:extLst>
              <a:ext uri="{FF2B5EF4-FFF2-40B4-BE49-F238E27FC236}">
                <a16:creationId xmlns:a16="http://schemas.microsoft.com/office/drawing/2014/main" id="{7118D89B-BB1D-F63E-58EE-737D8D6BEDB0}"/>
              </a:ext>
            </a:extLst>
          </p:cNvPr>
          <p:cNvSpPr/>
          <p:nvPr/>
        </p:nvSpPr>
        <p:spPr>
          <a:xfrm>
            <a:off x="6554828" y="4303363"/>
            <a:ext cx="54864" cy="566928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28">
            <a:extLst>
              <a:ext uri="{FF2B5EF4-FFF2-40B4-BE49-F238E27FC236}">
                <a16:creationId xmlns:a16="http://schemas.microsoft.com/office/drawing/2014/main" id="{DF7C9F66-0E4A-C3BC-DB58-5D7634870E45}"/>
              </a:ext>
            </a:extLst>
          </p:cNvPr>
          <p:cNvSpPr/>
          <p:nvPr/>
        </p:nvSpPr>
        <p:spPr>
          <a:xfrm>
            <a:off x="6737708" y="4303363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FT-Transformer</a:t>
            </a:r>
            <a:endParaRPr lang="en-US" sz="1400" dirty="0"/>
          </a:p>
        </p:txBody>
      </p:sp>
      <p:sp>
        <p:nvSpPr>
          <p:cNvPr id="123" name="Text 29">
            <a:extLst>
              <a:ext uri="{FF2B5EF4-FFF2-40B4-BE49-F238E27FC236}">
                <a16:creationId xmlns:a16="http://schemas.microsoft.com/office/drawing/2014/main" id="{4FC2AB03-12A6-72DE-6311-5E1C27F067BC}"/>
              </a:ext>
            </a:extLst>
          </p:cNvPr>
          <p:cNvSpPr/>
          <p:nvPr/>
        </p:nvSpPr>
        <p:spPr>
          <a:xfrm>
            <a:off x="6737708" y="4522819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learns which feature pairs matter via attention: global and differentiable</a:t>
            </a:r>
            <a:endParaRPr lang="en-US" sz="1050" dirty="0"/>
          </a:p>
        </p:txBody>
      </p:sp>
      <p:sp>
        <p:nvSpPr>
          <p:cNvPr id="124" name="Shape 30">
            <a:extLst>
              <a:ext uri="{FF2B5EF4-FFF2-40B4-BE49-F238E27FC236}">
                <a16:creationId xmlns:a16="http://schemas.microsoft.com/office/drawing/2014/main" id="{3F1C7D9F-FDFF-95E3-ED60-70123EE67B7C}"/>
              </a:ext>
            </a:extLst>
          </p:cNvPr>
          <p:cNvSpPr/>
          <p:nvPr/>
        </p:nvSpPr>
        <p:spPr>
          <a:xfrm>
            <a:off x="6554828" y="5153755"/>
            <a:ext cx="54864" cy="411480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31">
            <a:extLst>
              <a:ext uri="{FF2B5EF4-FFF2-40B4-BE49-F238E27FC236}">
                <a16:creationId xmlns:a16="http://schemas.microsoft.com/office/drawing/2014/main" id="{03EC2882-7815-8534-5661-3D50EBB18534}"/>
              </a:ext>
            </a:extLst>
          </p:cNvPr>
          <p:cNvSpPr/>
          <p:nvPr/>
        </p:nvSpPr>
        <p:spPr>
          <a:xfrm>
            <a:off x="6737708" y="515375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error patterns → valuable for stacking ensemble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0079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C7A58-0337-2A4D-593A-6DD93ACF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14FF-7312-F5A5-135C-BFFB2025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7C2F2-CE75-84F7-40BB-B4ED8C71EC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9379C35F-645B-18AE-E4CA-8A7A1792C8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3E47EA9-E48D-96AB-F651-63A97A33D4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CEC5CC-90FC-2AB5-2A37-45C4ACAC609A}"/>
              </a:ext>
            </a:extLst>
          </p:cNvPr>
          <p:cNvSpPr txBox="1">
            <a:spLocks/>
          </p:cNvSpPr>
          <p:nvPr/>
        </p:nvSpPr>
        <p:spPr>
          <a:xfrm>
            <a:off x="1996838" y="1277621"/>
            <a:ext cx="7660117" cy="753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GRU+MLP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DBA08-6598-D8D9-2332-BB2D7598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2FA62692-AE40-1E0F-6D33-1F1BFF2897CD}"/>
              </a:ext>
            </a:extLst>
          </p:cNvPr>
          <p:cNvSpPr/>
          <p:nvPr/>
        </p:nvSpPr>
        <p:spPr>
          <a:xfrm>
            <a:off x="779055" y="2407494"/>
            <a:ext cx="4467647" cy="3568824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6E9BF74-DBE8-8062-B297-FCE8202494A5}"/>
              </a:ext>
            </a:extLst>
          </p:cNvPr>
          <p:cNvSpPr/>
          <p:nvPr/>
        </p:nvSpPr>
        <p:spPr>
          <a:xfrm>
            <a:off x="974565" y="28240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ea typeface="Georgia" pitchFamily="34" charset="-122"/>
                <a:cs typeface="Georgia" pitchFamily="34" charset="-120"/>
              </a:rPr>
              <a:t>How the Hybrid Model Works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654FA5E-3440-E30B-C9E9-BB2FF1435F35}"/>
              </a:ext>
            </a:extLst>
          </p:cNvPr>
          <p:cNvSpPr/>
          <p:nvPr/>
        </p:nvSpPr>
        <p:spPr>
          <a:xfrm>
            <a:off x="1015606" y="3501043"/>
            <a:ext cx="54864" cy="5486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CF81471A-771D-AA58-85C1-42BC38F7DD99}"/>
              </a:ext>
            </a:extLst>
          </p:cNvPr>
          <p:cNvSpPr/>
          <p:nvPr/>
        </p:nvSpPr>
        <p:spPr>
          <a:xfrm>
            <a:off x="1015606" y="4293493"/>
            <a:ext cx="54864" cy="5486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1E8EC7F-8F38-E5E4-6E8B-245629FC4A94}"/>
              </a:ext>
            </a:extLst>
          </p:cNvPr>
          <p:cNvSpPr/>
          <p:nvPr/>
        </p:nvSpPr>
        <p:spPr>
          <a:xfrm>
            <a:off x="1043038" y="5116471"/>
            <a:ext cx="45719" cy="5486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0F761A5-85C9-9F9D-24D0-75C13F25E11D}"/>
              </a:ext>
            </a:extLst>
          </p:cNvPr>
          <p:cNvSpPr/>
          <p:nvPr/>
        </p:nvSpPr>
        <p:spPr>
          <a:xfrm>
            <a:off x="1248885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ea typeface="Calibri" pitchFamily="34" charset="-122"/>
                <a:cs typeface="Calibri" pitchFamily="34" charset="-120"/>
              </a:rPr>
              <a:t>Sequence Branch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3855566-9AC3-A07E-BF8C-6CEB99BB79B1}"/>
              </a:ext>
            </a:extLst>
          </p:cNvPr>
          <p:cNvSpPr/>
          <p:nvPr/>
        </p:nvSpPr>
        <p:spPr>
          <a:xfrm>
            <a:off x="1261111" y="370803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10 prior admissions × 15 temporal features → GRU layers → temporal representation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01E5CFD-672B-547C-39F6-480AC6987010}"/>
              </a:ext>
            </a:extLst>
          </p:cNvPr>
          <p:cNvSpPr/>
          <p:nvPr/>
        </p:nvSpPr>
        <p:spPr>
          <a:xfrm>
            <a:off x="1261111" y="423437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ea typeface="Calibri" pitchFamily="34" charset="-122"/>
                <a:cs typeface="Calibri" pitchFamily="34" charset="-120"/>
              </a:rPr>
              <a:t>Static Branch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E6B7164-61ED-36BA-E82D-A552FD1EACF4}"/>
              </a:ext>
            </a:extLst>
          </p:cNvPr>
          <p:cNvSpPr/>
          <p:nvPr/>
        </p:nvSpPr>
        <p:spPr>
          <a:xfrm>
            <a:off x="1248885" y="4538067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25 numeric features + 5 categorical embeddings → Dense layers</a:t>
            </a:r>
            <a:endParaRPr lang="en-US" sz="1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95BEFD2-0800-92FC-22BC-7D83B6321AD8}"/>
              </a:ext>
            </a:extLst>
          </p:cNvPr>
          <p:cNvSpPr/>
          <p:nvPr/>
        </p:nvSpPr>
        <p:spPr>
          <a:xfrm>
            <a:off x="1261111" y="50397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ea typeface="Calibri" pitchFamily="34" charset="-122"/>
                <a:cs typeface="Calibri" pitchFamily="34" charset="-120"/>
              </a:rPr>
              <a:t>Fusion Layer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BD78912-66EC-6E36-9B9F-2EC7A8121145}"/>
              </a:ext>
            </a:extLst>
          </p:cNvPr>
          <p:cNvSpPr/>
          <p:nvPr/>
        </p:nvSpPr>
        <p:spPr>
          <a:xfrm>
            <a:off x="1248885" y="5343441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Concatenate both branches → Dense(128) → Dense(64) → Sigmoid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03FAE3-8A2F-9DB9-D001-803B4B2ADAEF}"/>
              </a:ext>
            </a:extLst>
          </p:cNvPr>
          <p:cNvSpPr txBox="1"/>
          <p:nvPr/>
        </p:nvSpPr>
        <p:spPr>
          <a:xfrm>
            <a:off x="6262793" y="239841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  <a:ea typeface="Georgia" pitchFamily="34" charset="-122"/>
                <a:cs typeface="Georgia" pitchFamily="34" charset="-120"/>
              </a:rPr>
              <a:t>Table 2. </a:t>
            </a:r>
            <a:r>
              <a:rPr lang="en-US" sz="1800" dirty="0">
                <a:solidFill>
                  <a:srgbClr val="002060"/>
                </a:solidFill>
                <a:ea typeface="Georgia" pitchFamily="34" charset="-122"/>
                <a:cs typeface="Georgia" pitchFamily="34" charset="-120"/>
              </a:rPr>
              <a:t>Test AUROC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E1C1372C-C327-36C9-1EAF-AC88A63FBCC2}"/>
              </a:ext>
            </a:extLst>
          </p:cNvPr>
          <p:cNvSpPr/>
          <p:nvPr/>
        </p:nvSpPr>
        <p:spPr>
          <a:xfrm>
            <a:off x="6347536" y="4780619"/>
            <a:ext cx="50654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RNNs (0.636) confirm that sequences alone are insufficient. The hybrid approach combining temporal + static features is essential.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06A1E1-1B8C-9CFF-5D2A-3662BC5C1CFF}"/>
              </a:ext>
            </a:extLst>
          </p:cNvPr>
          <p:cNvSpPr txBox="1"/>
          <p:nvPr/>
        </p:nvSpPr>
        <p:spPr>
          <a:xfrm>
            <a:off x="669786" y="6547113"/>
            <a:ext cx="109769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GRU</a:t>
            </a:r>
            <a:r>
              <a:rPr lang="en-US" sz="1000" dirty="0"/>
              <a:t> = Gated Recurrent Unit </a:t>
            </a:r>
            <a:r>
              <a:rPr lang="en-US" sz="1600" dirty="0"/>
              <a:t>·</a:t>
            </a:r>
            <a:r>
              <a:rPr lang="en-US" sz="1000" dirty="0"/>
              <a:t> </a:t>
            </a:r>
            <a:r>
              <a:rPr lang="en-US" sz="1000" b="1" dirty="0"/>
              <a:t>LSTM</a:t>
            </a:r>
            <a:r>
              <a:rPr lang="en-US" sz="1000" dirty="0"/>
              <a:t> = Long Short-Term Memory </a:t>
            </a:r>
            <a:r>
              <a:rPr lang="en-US" sz="1600" dirty="0"/>
              <a:t>· </a:t>
            </a:r>
            <a:r>
              <a:rPr lang="en-US" sz="1000" b="1" dirty="0"/>
              <a:t>MLP</a:t>
            </a:r>
            <a:r>
              <a:rPr lang="en-US" sz="1000" dirty="0"/>
              <a:t> = Multi-Layer Perceptron </a:t>
            </a:r>
            <a:r>
              <a:rPr lang="en-US" sz="1600" dirty="0"/>
              <a:t>·</a:t>
            </a:r>
            <a:r>
              <a:rPr lang="en-US" sz="1000" dirty="0"/>
              <a:t> </a:t>
            </a:r>
            <a:r>
              <a:rPr lang="en-US" sz="1000" b="1" dirty="0"/>
              <a:t>RNN</a:t>
            </a:r>
            <a:r>
              <a:rPr lang="en-US" sz="1000" dirty="0"/>
              <a:t> = Recurrent Neural Network 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B0C74F8E-9A4C-4130-7ED9-97E224E73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797820"/>
              </p:ext>
            </p:extLst>
          </p:nvPr>
        </p:nvGraphicFramePr>
        <p:xfrm>
          <a:off x="6347536" y="2831527"/>
          <a:ext cx="4869899" cy="1805232"/>
        </p:xfrm>
        <a:graphic>
          <a:graphicData uri="http://schemas.openxmlformats.org/drawingml/2006/table">
            <a:tbl>
              <a:tblPr/>
              <a:tblGrid>
                <a:gridCol w="1554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7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HybridGRU_1L32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Hybrid_LSTM32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RNN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BiGRU_2L64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493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8BB82-5FC7-11F1-9B26-F848BF28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9CB959-553B-C8C8-3B50-F94D796258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3CAFFC83-0D49-F322-43A9-FE25337F36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C3D301E-44A7-8519-454F-A15415C5D3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61A60DC-5EA2-5A2C-E15F-F96D87678A2E}"/>
              </a:ext>
            </a:extLst>
          </p:cNvPr>
          <p:cNvSpPr txBox="1">
            <a:spLocks/>
          </p:cNvSpPr>
          <p:nvPr/>
        </p:nvSpPr>
        <p:spPr>
          <a:xfrm>
            <a:off x="1439742" y="955603"/>
            <a:ext cx="8314604" cy="1615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Stacking Ensemble with </a:t>
            </a:r>
          </a:p>
          <a:p>
            <a:r>
              <a:rPr lang="en-US" sz="5400" dirty="0">
                <a:solidFill>
                  <a:srgbClr val="091E40"/>
                </a:solidFill>
              </a:rPr>
              <a:t>Meta Learn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B3ACC0-FF73-D78F-B7D1-C9E39596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2247FA4D-231D-D6E1-F158-763293C0AE84}"/>
              </a:ext>
            </a:extLst>
          </p:cNvPr>
          <p:cNvSpPr/>
          <p:nvPr/>
        </p:nvSpPr>
        <p:spPr>
          <a:xfrm>
            <a:off x="889220" y="2979795"/>
            <a:ext cx="1920240" cy="731520"/>
          </a:xfrm>
          <a:prstGeom prst="rect">
            <a:avLst/>
          </a:prstGeom>
          <a:solidFill>
            <a:srgbClr val="00336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85C0A3C3-0A31-9DF2-44C2-CF7948DE0F28}"/>
              </a:ext>
            </a:extLst>
          </p:cNvPr>
          <p:cNvSpPr/>
          <p:nvPr/>
        </p:nvSpPr>
        <p:spPr>
          <a:xfrm>
            <a:off x="3676804" y="2979795"/>
            <a:ext cx="1920240" cy="731520"/>
          </a:xfrm>
          <a:prstGeom prst="rect">
            <a:avLst/>
          </a:prstGeom>
          <a:solidFill>
            <a:srgbClr val="2E86A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775F592E-C32D-62FF-6B40-4997EEBEBE6B}"/>
              </a:ext>
            </a:extLst>
          </p:cNvPr>
          <p:cNvSpPr/>
          <p:nvPr/>
        </p:nvSpPr>
        <p:spPr>
          <a:xfrm>
            <a:off x="6629401" y="2986107"/>
            <a:ext cx="1920240" cy="731520"/>
          </a:xfrm>
          <a:prstGeom prst="rect">
            <a:avLst/>
          </a:prstGeom>
          <a:solidFill>
            <a:srgbClr val="FFC0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A9C0B6AB-2010-4D63-7409-34FD44C38603}"/>
              </a:ext>
            </a:extLst>
          </p:cNvPr>
          <p:cNvSpPr/>
          <p:nvPr/>
        </p:nvSpPr>
        <p:spPr>
          <a:xfrm>
            <a:off x="9351001" y="2967954"/>
            <a:ext cx="1920240" cy="731520"/>
          </a:xfrm>
          <a:prstGeom prst="rect">
            <a:avLst/>
          </a:prstGeom>
          <a:solidFill>
            <a:srgbClr val="B6862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17">
            <a:extLst>
              <a:ext uri="{FF2B5EF4-FFF2-40B4-BE49-F238E27FC236}">
                <a16:creationId xmlns:a16="http://schemas.microsoft.com/office/drawing/2014/main" id="{AAB447AD-F7A3-2A8D-58F4-0F2B5E66E3FC}"/>
              </a:ext>
            </a:extLst>
          </p:cNvPr>
          <p:cNvSpPr/>
          <p:nvPr/>
        </p:nvSpPr>
        <p:spPr>
          <a:xfrm>
            <a:off x="3124200" y="4388768"/>
            <a:ext cx="5486400" cy="640080"/>
          </a:xfrm>
          <a:prstGeom prst="rect">
            <a:avLst/>
          </a:prstGeom>
          <a:solidFill>
            <a:srgbClr val="FFF3E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FBE08C17-D6AE-D849-7887-CF42A2B6994E}"/>
              </a:ext>
            </a:extLst>
          </p:cNvPr>
          <p:cNvSpPr/>
          <p:nvPr/>
        </p:nvSpPr>
        <p:spPr>
          <a:xfrm>
            <a:off x="3051048" y="4403748"/>
            <a:ext cx="73152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22">
            <a:extLst>
              <a:ext uri="{FF2B5EF4-FFF2-40B4-BE49-F238E27FC236}">
                <a16:creationId xmlns:a16="http://schemas.microsoft.com/office/drawing/2014/main" id="{5F35C8D6-0965-3F13-E628-847DC982EFBB}"/>
              </a:ext>
            </a:extLst>
          </p:cNvPr>
          <p:cNvSpPr/>
          <p:nvPr/>
        </p:nvSpPr>
        <p:spPr>
          <a:xfrm>
            <a:off x="4038600" y="5594177"/>
            <a:ext cx="3657600" cy="502920"/>
          </a:xfrm>
          <a:prstGeom prst="rect">
            <a:avLst/>
          </a:prstGeom>
          <a:solidFill>
            <a:srgbClr val="28A74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59635-5C98-BBB9-679D-9D2BD0D621A9}"/>
              </a:ext>
            </a:extLst>
          </p:cNvPr>
          <p:cNvSpPr txBox="1"/>
          <p:nvPr/>
        </p:nvSpPr>
        <p:spPr>
          <a:xfrm>
            <a:off x="0" y="3010548"/>
            <a:ext cx="3658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GRU×4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3F056E-F65C-6BA7-643C-45DA54AA2EC5}"/>
              </a:ext>
            </a:extLst>
          </p:cNvPr>
          <p:cNvSpPr txBox="1"/>
          <p:nvPr/>
        </p:nvSpPr>
        <p:spPr>
          <a:xfrm>
            <a:off x="6736206" y="3030795"/>
            <a:ext cx="1706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FT-Transformer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81DB53-D88C-E4EC-08BF-CEBF0223DF7E}"/>
              </a:ext>
            </a:extLst>
          </p:cNvPr>
          <p:cNvSpPr txBox="1"/>
          <p:nvPr/>
        </p:nvSpPr>
        <p:spPr>
          <a:xfrm>
            <a:off x="9416985" y="3042498"/>
            <a:ext cx="1796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07619F-4DE2-7C4B-0CA2-E898C852A0EA}"/>
              </a:ext>
            </a:extLst>
          </p:cNvPr>
          <p:cNvSpPr txBox="1"/>
          <p:nvPr/>
        </p:nvSpPr>
        <p:spPr>
          <a:xfrm>
            <a:off x="2784139" y="4685479"/>
            <a:ext cx="6172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optimal weights: which model to trust for which patients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6A6BF5-5AB3-5175-B929-B2ABB615E781}"/>
              </a:ext>
            </a:extLst>
          </p:cNvPr>
          <p:cNvSpPr txBox="1"/>
          <p:nvPr/>
        </p:nvSpPr>
        <p:spPr>
          <a:xfrm>
            <a:off x="2784139" y="4372837"/>
            <a:ext cx="6172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Meta-Learner (Logistic Regression)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9E1A2A-EBE9-1A08-F37D-8A7DD89C0385}"/>
              </a:ext>
            </a:extLst>
          </p:cNvPr>
          <p:cNvSpPr txBox="1"/>
          <p:nvPr/>
        </p:nvSpPr>
        <p:spPr>
          <a:xfrm>
            <a:off x="3996365" y="5673422"/>
            <a:ext cx="3742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Final Prediction: AUROC = 0.7778</a:t>
            </a:r>
            <a:endParaRPr lang="en-US" sz="1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6D3E79-689E-E12B-DB99-992658222972}"/>
              </a:ext>
            </a:extLst>
          </p:cNvPr>
          <p:cNvSpPr txBox="1"/>
          <p:nvPr/>
        </p:nvSpPr>
        <p:spPr>
          <a:xfrm>
            <a:off x="3896996" y="3010548"/>
            <a:ext cx="1479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6BF0BF-2BD3-AD98-A138-048A12EE5497}"/>
              </a:ext>
            </a:extLst>
          </p:cNvPr>
          <p:cNvSpPr txBox="1"/>
          <p:nvPr/>
        </p:nvSpPr>
        <p:spPr>
          <a:xfrm>
            <a:off x="2784139" y="3916704"/>
            <a:ext cx="6172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Each model produces probability predictions  ▼</a:t>
            </a:r>
            <a:endParaRPr lang="en-US" sz="14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38A17C75-C434-AC14-CB28-F3826183527A}"/>
              </a:ext>
            </a:extLst>
          </p:cNvPr>
          <p:cNvSpPr/>
          <p:nvPr/>
        </p:nvSpPr>
        <p:spPr>
          <a:xfrm>
            <a:off x="889220" y="2630449"/>
            <a:ext cx="43353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Base Models (trained independently)</a:t>
            </a:r>
            <a:endParaRPr lang="en-US" sz="1400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FD4E5D6C-9742-5551-EC19-478CCEF49BF4}"/>
              </a:ext>
            </a:extLst>
          </p:cNvPr>
          <p:cNvSpPr/>
          <p:nvPr/>
        </p:nvSpPr>
        <p:spPr>
          <a:xfrm>
            <a:off x="5362687" y="5213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1B729A-FEF8-3494-D34B-F59536961AA9}"/>
              </a:ext>
            </a:extLst>
          </p:cNvPr>
          <p:cNvSpPr txBox="1"/>
          <p:nvPr/>
        </p:nvSpPr>
        <p:spPr>
          <a:xfrm>
            <a:off x="885566" y="6529664"/>
            <a:ext cx="11541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MLP</a:t>
            </a:r>
            <a:r>
              <a:rPr lang="en-US" sz="1200" dirty="0"/>
              <a:t> = Multi-Layer Perceptron </a:t>
            </a:r>
            <a:r>
              <a:rPr lang="en-US" sz="1600" b="1" dirty="0"/>
              <a:t>· </a:t>
            </a:r>
            <a:r>
              <a:rPr lang="en-US" sz="1200" b="1" dirty="0"/>
              <a:t>GRU</a:t>
            </a:r>
            <a:r>
              <a:rPr lang="en-US" sz="1200" dirty="0"/>
              <a:t> = Gated Recurrent Unit</a:t>
            </a:r>
            <a:r>
              <a:rPr lang="en-US" sz="1600" b="1" dirty="0"/>
              <a:t> · </a:t>
            </a:r>
            <a:r>
              <a:rPr lang="en-US" sz="1200" b="1" dirty="0"/>
              <a:t>FT-Transformer</a:t>
            </a:r>
            <a:r>
              <a:rPr lang="en-US" sz="1200" dirty="0"/>
              <a:t> = Feature-Tokenizer Transformer</a:t>
            </a:r>
          </a:p>
        </p:txBody>
      </p:sp>
    </p:spTree>
    <p:extLst>
      <p:ext uri="{BB962C8B-B14F-4D97-AF65-F5344CB8AC3E}">
        <p14:creationId xmlns:p14="http://schemas.microsoft.com/office/powerpoint/2010/main" val="117793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76FF2-120E-109E-6B39-82EF5485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0D22C-657D-9A04-D75B-9CF334159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7CBB4-0A5A-A19A-F151-3B7CCCD459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AFC96637-6E60-5A7A-1623-26663896A7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A40FF39-747E-27B8-5C84-F20D65B86C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92361DA-6649-9FD1-976F-50F380ADBD52}"/>
              </a:ext>
            </a:extLst>
          </p:cNvPr>
          <p:cNvSpPr txBox="1">
            <a:spLocks/>
          </p:cNvSpPr>
          <p:nvPr/>
        </p:nvSpPr>
        <p:spPr>
          <a:xfrm>
            <a:off x="2007862" y="1084793"/>
            <a:ext cx="7660117" cy="753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AUC-ROC Results on V6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FDE09-5EEE-0990-6ECD-BC75932B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21</a:t>
            </a:fld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DEB784-4947-3AAD-6598-2846E54D28C8}"/>
              </a:ext>
            </a:extLst>
          </p:cNvPr>
          <p:cNvSpPr txBox="1"/>
          <p:nvPr/>
        </p:nvSpPr>
        <p:spPr>
          <a:xfrm>
            <a:off x="942290" y="5775391"/>
            <a:ext cx="8905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AUC-ROC across all model families and ensembles (V6 dataset, 244K admissions)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FEB32B-43FE-97C8-1E5D-23AB70D484AF}"/>
              </a:ext>
            </a:extLst>
          </p:cNvPr>
          <p:cNvSpPr txBox="1"/>
          <p:nvPr/>
        </p:nvSpPr>
        <p:spPr>
          <a:xfrm>
            <a:off x="0" y="6552198"/>
            <a:ext cx="109769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GRU</a:t>
            </a:r>
            <a:r>
              <a:rPr lang="en-US" sz="1000" dirty="0"/>
              <a:t> = Gated Recurrent Unit </a:t>
            </a:r>
            <a:r>
              <a:rPr lang="en-US" sz="1600" dirty="0"/>
              <a:t>·</a:t>
            </a:r>
            <a:r>
              <a:rPr lang="en-US" sz="1000" dirty="0"/>
              <a:t> </a:t>
            </a:r>
            <a:r>
              <a:rPr lang="en-US" sz="1000" b="1" dirty="0"/>
              <a:t>LSTM</a:t>
            </a:r>
            <a:r>
              <a:rPr lang="en-US" sz="1000" dirty="0"/>
              <a:t> = Long Short-Term Memory </a:t>
            </a:r>
            <a:r>
              <a:rPr lang="en-US" sz="1600" dirty="0"/>
              <a:t>· </a:t>
            </a:r>
            <a:r>
              <a:rPr lang="en-US" sz="1000" b="1" dirty="0"/>
              <a:t>MLP</a:t>
            </a:r>
            <a:r>
              <a:rPr lang="en-US" sz="1000" dirty="0"/>
              <a:t> = Multi-Layer Perceptron </a:t>
            </a:r>
            <a:r>
              <a:rPr lang="en-US" sz="1600" dirty="0"/>
              <a:t>·</a:t>
            </a:r>
            <a:r>
              <a:rPr lang="en-US" sz="1000" dirty="0"/>
              <a:t> </a:t>
            </a:r>
            <a:r>
              <a:rPr lang="en-US" sz="1000" b="1" dirty="0"/>
              <a:t>RNN</a:t>
            </a:r>
            <a:r>
              <a:rPr lang="en-US" sz="1000" dirty="0"/>
              <a:t> = Recurrent Neural Network </a:t>
            </a:r>
            <a:r>
              <a:rPr lang="en-US" sz="1600" dirty="0"/>
              <a:t>·</a:t>
            </a:r>
            <a:r>
              <a:rPr lang="en-US" sz="1000" dirty="0"/>
              <a:t> </a:t>
            </a:r>
            <a:r>
              <a:rPr lang="en-US" sz="1000" b="1" dirty="0"/>
              <a:t>FT-Trans</a:t>
            </a:r>
            <a:r>
              <a:rPr lang="en-US" sz="1000" dirty="0"/>
              <a:t> = Feature Tokenizer Transformer</a:t>
            </a:r>
          </a:p>
        </p:txBody>
      </p:sp>
      <p:pic>
        <p:nvPicPr>
          <p:cNvPr id="22" name="Picture 2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3854FBA1-911A-A938-2DC1-94A94FCFF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564" y="2181937"/>
            <a:ext cx="9600436" cy="3588162"/>
          </a:xfrm>
          <a:prstGeom prst="rect">
            <a:avLst/>
          </a:prstGeom>
        </p:spPr>
      </p:pic>
      <p:sp>
        <p:nvSpPr>
          <p:cNvPr id="4" name="Text 8">
            <a:extLst>
              <a:ext uri="{FF2B5EF4-FFF2-40B4-BE49-F238E27FC236}">
                <a16:creationId xmlns:a16="http://schemas.microsoft.com/office/drawing/2014/main" id="{BE9716FD-A55F-2027-D68C-2A4E3F7B0C04}"/>
              </a:ext>
            </a:extLst>
          </p:cNvPr>
          <p:cNvSpPr/>
          <p:nvPr/>
        </p:nvSpPr>
        <p:spPr>
          <a:xfrm>
            <a:off x="9437811" y="5026510"/>
            <a:ext cx="13016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0.7778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47915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1E4E5-1A28-1A8F-4A93-6600B457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C26F-C9FB-8533-E292-70C36D665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2771E-CE3D-FABD-150B-D99C851D9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916DD3FF-C501-69F0-E458-DEFFA747B0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564D636-CCC8-CF34-BF21-4900EBB323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8EAF3E9-3C6B-C7CD-2D32-8B182AA3D227}"/>
              </a:ext>
            </a:extLst>
          </p:cNvPr>
          <p:cNvSpPr txBox="1">
            <a:spLocks/>
          </p:cNvSpPr>
          <p:nvPr/>
        </p:nvSpPr>
        <p:spPr>
          <a:xfrm>
            <a:off x="1911495" y="927305"/>
            <a:ext cx="8369009" cy="17853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Boosting: Four-Model Ensemble with V7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82493E-9441-11B4-67F4-4A308841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975316E-3287-6A9C-BC24-784B96B03C93}"/>
              </a:ext>
            </a:extLst>
          </p:cNvPr>
          <p:cNvSpPr/>
          <p:nvPr/>
        </p:nvSpPr>
        <p:spPr>
          <a:xfrm>
            <a:off x="1798320" y="3128164"/>
            <a:ext cx="1965960" cy="246888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72C0A81-68DC-4749-DD9E-0092D84D678E}"/>
              </a:ext>
            </a:extLst>
          </p:cNvPr>
          <p:cNvSpPr/>
          <p:nvPr/>
        </p:nvSpPr>
        <p:spPr>
          <a:xfrm>
            <a:off x="1798320" y="3128164"/>
            <a:ext cx="1965960" cy="4572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9B4E9DD-5AD7-EA4F-BDCF-3869EEC94768}"/>
              </a:ext>
            </a:extLst>
          </p:cNvPr>
          <p:cNvSpPr/>
          <p:nvPr/>
        </p:nvSpPr>
        <p:spPr>
          <a:xfrm>
            <a:off x="1798320" y="31281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E928294-E29E-8831-EB24-BBE0AF45F9E8}"/>
              </a:ext>
            </a:extLst>
          </p:cNvPr>
          <p:cNvSpPr/>
          <p:nvPr/>
        </p:nvSpPr>
        <p:spPr>
          <a:xfrm>
            <a:off x="1798320" y="367680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0.790</a:t>
            </a:r>
            <a:endParaRPr lang="en-US" sz="28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F0D8FDE-EF1D-3739-C16C-72D41137CE2D}"/>
              </a:ext>
            </a:extLst>
          </p:cNvPr>
          <p:cNvSpPr/>
          <p:nvPr/>
        </p:nvSpPr>
        <p:spPr>
          <a:xfrm>
            <a:off x="1798320" y="41797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B62AD14-8897-CB38-8DF0-305B30E935F4}"/>
              </a:ext>
            </a:extLst>
          </p:cNvPr>
          <p:cNvSpPr/>
          <p:nvPr/>
        </p:nvSpPr>
        <p:spPr>
          <a:xfrm>
            <a:off x="1935480" y="45454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Histogram-based,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training, handles categoricals.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E91D7D4E-F4BD-31CD-B1D4-D844A52C0417}"/>
              </a:ext>
            </a:extLst>
          </p:cNvPr>
          <p:cNvSpPr/>
          <p:nvPr/>
        </p:nvSpPr>
        <p:spPr>
          <a:xfrm>
            <a:off x="3947160" y="3128164"/>
            <a:ext cx="1965960" cy="246888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6862D114-7F94-A679-9C2A-D669FB8CEA4F}"/>
              </a:ext>
            </a:extLst>
          </p:cNvPr>
          <p:cNvSpPr/>
          <p:nvPr/>
        </p:nvSpPr>
        <p:spPr>
          <a:xfrm>
            <a:off x="3947160" y="3128164"/>
            <a:ext cx="1965960" cy="4572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3888D15-BBF5-7A4F-510C-02FDD947CBD1}"/>
              </a:ext>
            </a:extLst>
          </p:cNvPr>
          <p:cNvSpPr/>
          <p:nvPr/>
        </p:nvSpPr>
        <p:spPr>
          <a:xfrm>
            <a:off x="3947160" y="31281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1EE8DF9-CF05-75C0-F732-1CFC3E325282}"/>
              </a:ext>
            </a:extLst>
          </p:cNvPr>
          <p:cNvSpPr/>
          <p:nvPr/>
        </p:nvSpPr>
        <p:spPr>
          <a:xfrm>
            <a:off x="3947160" y="367680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0.793</a:t>
            </a:r>
            <a:endParaRPr lang="en-US" sz="28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89095ED-02A6-3FEF-0D53-4E71D3660A77}"/>
              </a:ext>
            </a:extLst>
          </p:cNvPr>
          <p:cNvSpPr/>
          <p:nvPr/>
        </p:nvSpPr>
        <p:spPr>
          <a:xfrm>
            <a:off x="3947160" y="41797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F4A4D81-D1B8-F59F-77D6-23753E1B0B68}"/>
              </a:ext>
            </a:extLst>
          </p:cNvPr>
          <p:cNvSpPr/>
          <p:nvPr/>
        </p:nvSpPr>
        <p:spPr>
          <a:xfrm>
            <a:off x="4084320" y="45454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Lossguide tree policy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individual performer</a:t>
            </a:r>
            <a:endParaRPr lang="en-US" sz="12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D6BCC359-36F2-A676-43B3-14E47172AF68}"/>
              </a:ext>
            </a:extLst>
          </p:cNvPr>
          <p:cNvSpPr/>
          <p:nvPr/>
        </p:nvSpPr>
        <p:spPr>
          <a:xfrm>
            <a:off x="6096000" y="3128164"/>
            <a:ext cx="1965960" cy="246888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9AD2E54-5539-6224-0A30-0AB4DF45EFAA}"/>
              </a:ext>
            </a:extLst>
          </p:cNvPr>
          <p:cNvSpPr/>
          <p:nvPr/>
        </p:nvSpPr>
        <p:spPr>
          <a:xfrm>
            <a:off x="6096000" y="3128164"/>
            <a:ext cx="1965960" cy="457200"/>
          </a:xfrm>
          <a:prstGeom prst="rect">
            <a:avLst/>
          </a:prstGeom>
          <a:solidFill>
            <a:srgbClr val="FACC00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1CB64D6-3681-CC14-8046-4B9D7F4E80A8}"/>
              </a:ext>
            </a:extLst>
          </p:cNvPr>
          <p:cNvSpPr/>
          <p:nvPr/>
        </p:nvSpPr>
        <p:spPr>
          <a:xfrm>
            <a:off x="6096000" y="31281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6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03D186E-05C6-7153-DAD6-7FE4A5AF9F07}"/>
              </a:ext>
            </a:extLst>
          </p:cNvPr>
          <p:cNvSpPr/>
          <p:nvPr/>
        </p:nvSpPr>
        <p:spPr>
          <a:xfrm>
            <a:off x="6096000" y="367680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C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0.792</a:t>
            </a:r>
            <a:endParaRPr lang="en-US" sz="2800" dirty="0">
              <a:solidFill>
                <a:srgbClr val="FACC00"/>
              </a:solidFill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542A781-AC61-46A7-AA23-0F0B4CE335CC}"/>
              </a:ext>
            </a:extLst>
          </p:cNvPr>
          <p:cNvSpPr/>
          <p:nvPr/>
        </p:nvSpPr>
        <p:spPr>
          <a:xfrm>
            <a:off x="6096000" y="41797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A9090C7-2F8C-999F-7064-AB4F19329F73}"/>
              </a:ext>
            </a:extLst>
          </p:cNvPr>
          <p:cNvSpPr/>
          <p:nvPr/>
        </p:nvSpPr>
        <p:spPr>
          <a:xfrm>
            <a:off x="6233160" y="45454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boosting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handling</a:t>
            </a:r>
            <a:endParaRPr lang="en-US" sz="12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FA976D46-DD32-7FE1-F504-28C9465800E9}"/>
              </a:ext>
            </a:extLst>
          </p:cNvPr>
          <p:cNvSpPr/>
          <p:nvPr/>
        </p:nvSpPr>
        <p:spPr>
          <a:xfrm>
            <a:off x="8199120" y="3147482"/>
            <a:ext cx="1965960" cy="246888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DA3106ED-2A0F-1738-A31F-DD4A61F097F5}"/>
              </a:ext>
            </a:extLst>
          </p:cNvPr>
          <p:cNvSpPr/>
          <p:nvPr/>
        </p:nvSpPr>
        <p:spPr>
          <a:xfrm>
            <a:off x="8244840" y="3128164"/>
            <a:ext cx="1965960" cy="457200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1FCF2DED-6424-CA86-C77F-FCE0E12ED854}"/>
              </a:ext>
            </a:extLst>
          </p:cNvPr>
          <p:cNvSpPr/>
          <p:nvPr/>
        </p:nvSpPr>
        <p:spPr>
          <a:xfrm>
            <a:off x="8244840" y="31281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HistGBM</a:t>
            </a:r>
            <a:endParaRPr lang="en-US" sz="16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5202B75-B481-6BCD-9F68-9ECD55438B33}"/>
              </a:ext>
            </a:extLst>
          </p:cNvPr>
          <p:cNvSpPr/>
          <p:nvPr/>
        </p:nvSpPr>
        <p:spPr>
          <a:xfrm>
            <a:off x="8244840" y="367680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6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0.792</a:t>
            </a:r>
            <a:endParaRPr lang="en-US" sz="2800" dirty="0">
              <a:solidFill>
                <a:srgbClr val="B6862C"/>
              </a:solidFill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8936E35F-3AC9-5B3D-F7CA-CC6215C83D9C}"/>
              </a:ext>
            </a:extLst>
          </p:cNvPr>
          <p:cNvSpPr/>
          <p:nvPr/>
        </p:nvSpPr>
        <p:spPr>
          <a:xfrm>
            <a:off x="8244840" y="41797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F76D6A25-3E7B-8653-388D-810465BECADD}"/>
              </a:ext>
            </a:extLst>
          </p:cNvPr>
          <p:cNvSpPr/>
          <p:nvPr/>
        </p:nvSpPr>
        <p:spPr>
          <a:xfrm>
            <a:off x="8382000" y="454548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histogram gradient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missing value support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30123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285A1-03A0-F1EF-E464-E19B8084B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5131-1BE6-F147-D6FA-25A1CC7FB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0EE07-A2FC-5253-ACD5-E3C208D0929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2295845F-5C6C-5854-BB71-7508499E51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06E81E2-0779-A04E-31BE-5E5A640EBA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4CE4076-7EA2-E501-6E89-7F06994B1CD9}"/>
              </a:ext>
            </a:extLst>
          </p:cNvPr>
          <p:cNvSpPr txBox="1">
            <a:spLocks/>
          </p:cNvSpPr>
          <p:nvPr/>
        </p:nvSpPr>
        <p:spPr>
          <a:xfrm>
            <a:off x="1911495" y="1215054"/>
            <a:ext cx="8369009" cy="8074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Ensemble Blending Strategy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BBA5-71AF-DE1F-CD8C-E9E70DDC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85DFCB-40C0-2331-4D3B-F6D734AE0440}"/>
              </a:ext>
            </a:extLst>
          </p:cNvPr>
          <p:cNvSpPr/>
          <p:nvPr/>
        </p:nvSpPr>
        <p:spPr>
          <a:xfrm>
            <a:off x="1454891" y="2149824"/>
            <a:ext cx="2155922" cy="807425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510CE46A-5261-C5F9-00DF-0F7375A50CF8}"/>
              </a:ext>
            </a:extLst>
          </p:cNvPr>
          <p:cNvSpPr/>
          <p:nvPr/>
        </p:nvSpPr>
        <p:spPr>
          <a:xfrm>
            <a:off x="1454891" y="2149824"/>
            <a:ext cx="2155922" cy="807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6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24B73F63-095E-82C8-F5A2-B7B362ABE5B3}"/>
              </a:ext>
            </a:extLst>
          </p:cNvPr>
          <p:cNvSpPr/>
          <p:nvPr/>
        </p:nvSpPr>
        <p:spPr>
          <a:xfrm>
            <a:off x="3826544" y="2252323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19%</a:t>
            </a:r>
            <a:endParaRPr lang="en-US" sz="140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E61EA67-3A6C-511A-C64A-96F58A9855C9}"/>
              </a:ext>
            </a:extLst>
          </p:cNvPr>
          <p:cNvSpPr/>
          <p:nvPr/>
        </p:nvSpPr>
        <p:spPr>
          <a:xfrm>
            <a:off x="4375184" y="2563701"/>
            <a:ext cx="652949" cy="594358"/>
          </a:xfrm>
          <a:prstGeom prst="line">
            <a:avLst/>
          </a:prstGeom>
          <a:noFill/>
          <a:ln w="19050">
            <a:solidFill>
              <a:srgbClr val="6B7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3C4D5FDE-4D42-8C93-BC12-C3244F58193C}"/>
              </a:ext>
            </a:extLst>
          </p:cNvPr>
          <p:cNvSpPr/>
          <p:nvPr/>
        </p:nvSpPr>
        <p:spPr>
          <a:xfrm>
            <a:off x="1454891" y="3259690"/>
            <a:ext cx="2155922" cy="80404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22C84627-7307-2DD2-0A06-74358E4FE686}"/>
              </a:ext>
            </a:extLst>
          </p:cNvPr>
          <p:cNvSpPr/>
          <p:nvPr/>
        </p:nvSpPr>
        <p:spPr>
          <a:xfrm>
            <a:off x="1454891" y="3259690"/>
            <a:ext cx="2155922" cy="80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CACF1BA7-B12B-BA01-34D3-DC7E44705115}"/>
              </a:ext>
            </a:extLst>
          </p:cNvPr>
          <p:cNvSpPr/>
          <p:nvPr/>
        </p:nvSpPr>
        <p:spPr>
          <a:xfrm>
            <a:off x="3826544" y="33092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4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D904AAAC-1BEE-5287-1D72-B1B27A87D20A}"/>
              </a:ext>
            </a:extLst>
          </p:cNvPr>
          <p:cNvSpPr/>
          <p:nvPr/>
        </p:nvSpPr>
        <p:spPr>
          <a:xfrm flipV="1">
            <a:off x="4359196" y="3620598"/>
            <a:ext cx="668937" cy="0"/>
          </a:xfrm>
          <a:prstGeom prst="line">
            <a:avLst/>
          </a:prstGeom>
          <a:noFill/>
          <a:ln w="19050">
            <a:solidFill>
              <a:srgbClr val="6B7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AC5E6943-5D31-842A-07CB-36B05786B83D}"/>
              </a:ext>
            </a:extLst>
          </p:cNvPr>
          <p:cNvSpPr/>
          <p:nvPr/>
        </p:nvSpPr>
        <p:spPr>
          <a:xfrm>
            <a:off x="1459509" y="4365490"/>
            <a:ext cx="2155922" cy="807425"/>
          </a:xfrm>
          <a:prstGeom prst="rect">
            <a:avLst/>
          </a:prstGeom>
          <a:solidFill>
            <a:srgbClr val="FAC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8221E8DE-4D61-D499-943D-0B1DD2EDED8C}"/>
              </a:ext>
            </a:extLst>
          </p:cNvPr>
          <p:cNvSpPr/>
          <p:nvPr/>
        </p:nvSpPr>
        <p:spPr>
          <a:xfrm>
            <a:off x="1459509" y="4365490"/>
            <a:ext cx="2155922" cy="807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6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742C8FB1-B25C-4690-DFE9-15D4BDBD0E6A}"/>
              </a:ext>
            </a:extLst>
          </p:cNvPr>
          <p:cNvSpPr/>
          <p:nvPr/>
        </p:nvSpPr>
        <p:spPr>
          <a:xfrm>
            <a:off x="3826544" y="447202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40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F995958-3688-B831-B04A-DAA654DC12F1}"/>
              </a:ext>
            </a:extLst>
          </p:cNvPr>
          <p:cNvSpPr/>
          <p:nvPr/>
        </p:nvSpPr>
        <p:spPr>
          <a:xfrm flipV="1">
            <a:off x="4306608" y="4769371"/>
            <a:ext cx="748384" cy="0"/>
          </a:xfrm>
          <a:prstGeom prst="line">
            <a:avLst/>
          </a:prstGeom>
          <a:noFill/>
          <a:ln w="19050">
            <a:solidFill>
              <a:srgbClr val="6B7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7600CE1E-3049-B0EE-C145-E82FF066F466}"/>
              </a:ext>
            </a:extLst>
          </p:cNvPr>
          <p:cNvSpPr/>
          <p:nvPr/>
        </p:nvSpPr>
        <p:spPr>
          <a:xfrm>
            <a:off x="1459509" y="5563386"/>
            <a:ext cx="2155922" cy="807425"/>
          </a:xfrm>
          <a:prstGeom prst="rect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D2241774-7EBC-BC8E-E095-BCE8952DB19D}"/>
              </a:ext>
            </a:extLst>
          </p:cNvPr>
          <p:cNvSpPr/>
          <p:nvPr/>
        </p:nvSpPr>
        <p:spPr>
          <a:xfrm>
            <a:off x="1459509" y="5563386"/>
            <a:ext cx="2155922" cy="807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HistGBM</a:t>
            </a:r>
            <a:endParaRPr lang="en-US" sz="16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2C6C3453-B6BD-52E0-6CA4-A9F8AED9B738}"/>
              </a:ext>
            </a:extLst>
          </p:cNvPr>
          <p:cNvSpPr/>
          <p:nvPr/>
        </p:nvSpPr>
        <p:spPr>
          <a:xfrm>
            <a:off x="3826544" y="566991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21%</a:t>
            </a:r>
            <a:endParaRPr lang="en-US" sz="14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A957A443-BBDE-4AFF-96DF-6D70BBB0A317}"/>
              </a:ext>
            </a:extLst>
          </p:cNvPr>
          <p:cNvSpPr/>
          <p:nvPr/>
        </p:nvSpPr>
        <p:spPr>
          <a:xfrm flipV="1">
            <a:off x="4284368" y="5172894"/>
            <a:ext cx="748383" cy="777213"/>
          </a:xfrm>
          <a:prstGeom prst="line">
            <a:avLst/>
          </a:prstGeom>
          <a:noFill/>
          <a:ln w="19050">
            <a:solidFill>
              <a:srgbClr val="6B7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2B56D03A-870E-BD2F-63C0-7F93EDD532E1}"/>
              </a:ext>
            </a:extLst>
          </p:cNvPr>
          <p:cNvSpPr/>
          <p:nvPr/>
        </p:nvSpPr>
        <p:spPr>
          <a:xfrm>
            <a:off x="5032751" y="3149337"/>
            <a:ext cx="2326242" cy="2023559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9C2E46A4-E965-61C2-1501-49F7787960EF}"/>
              </a:ext>
            </a:extLst>
          </p:cNvPr>
          <p:cNvSpPr/>
          <p:nvPr/>
        </p:nvSpPr>
        <p:spPr>
          <a:xfrm>
            <a:off x="5281472" y="336859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Scipy-Optimized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0.795</a:t>
            </a:r>
            <a:endParaRPr lang="en-US" dirty="0">
              <a:solidFill>
                <a:srgbClr val="B6862C"/>
              </a:solidFill>
            </a:endParaRPr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6241DE2A-8F7B-2876-432E-B58497A17D52}"/>
              </a:ext>
            </a:extLst>
          </p:cNvPr>
          <p:cNvSpPr/>
          <p:nvPr/>
        </p:nvSpPr>
        <p:spPr>
          <a:xfrm>
            <a:off x="7907633" y="2509258"/>
            <a:ext cx="3288289" cy="292608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02AA643D-432E-DF8D-197B-BBC4EDB2BC59}"/>
              </a:ext>
            </a:extLst>
          </p:cNvPr>
          <p:cNvSpPr/>
          <p:nvPr/>
        </p:nvSpPr>
        <p:spPr>
          <a:xfrm>
            <a:off x="8090513" y="260069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Details</a:t>
            </a:r>
            <a:endParaRPr lang="en-US" sz="1600" b="1" dirty="0">
              <a:solidFill>
                <a:srgbClr val="091E40"/>
              </a:solidFill>
            </a:endParaRPr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E4C46600-371D-EFF3-2C2B-440DA0A3C4CD}"/>
              </a:ext>
            </a:extLst>
          </p:cNvPr>
          <p:cNvSpPr/>
          <p:nvPr/>
        </p:nvSpPr>
        <p:spPr>
          <a:xfrm>
            <a:off x="8181953" y="3103617"/>
            <a:ext cx="93100" cy="118669"/>
          </a:xfrm>
          <a:prstGeom prst="ellipse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412B0894-C2F5-AE5A-749A-9B64AD48149D}"/>
              </a:ext>
            </a:extLst>
          </p:cNvPr>
          <p:cNvSpPr/>
          <p:nvPr/>
        </p:nvSpPr>
        <p:spPr>
          <a:xfrm>
            <a:off x="8364833" y="2823545"/>
            <a:ext cx="26184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minimize with AUROC objective on Out-of-Fold predictions</a:t>
            </a:r>
            <a:endParaRPr lang="en-US" sz="1200" dirty="0"/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A487BC7E-BB78-093D-7359-0262A424F400}"/>
              </a:ext>
            </a:extLst>
          </p:cNvPr>
          <p:cNvSpPr/>
          <p:nvPr/>
        </p:nvSpPr>
        <p:spPr>
          <a:xfrm>
            <a:off x="8181953" y="3542529"/>
            <a:ext cx="93100" cy="118669"/>
          </a:xfrm>
          <a:prstGeom prst="ellipse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D8BA48B3-BF35-2252-B2F0-C1F6775DF4B0}"/>
              </a:ext>
            </a:extLst>
          </p:cNvPr>
          <p:cNvSpPr/>
          <p:nvPr/>
        </p:nvSpPr>
        <p:spPr>
          <a:xfrm>
            <a:off x="8364833" y="3269751"/>
            <a:ext cx="26184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Constrained: weights sum to 1.0, each weight in [0, 1]</a:t>
            </a:r>
            <a:endParaRPr lang="en-US" sz="1200" dirty="0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4616AACC-5FC4-A58B-F293-625225B57770}"/>
              </a:ext>
            </a:extLst>
          </p:cNvPr>
          <p:cNvSpPr/>
          <p:nvPr/>
        </p:nvSpPr>
        <p:spPr>
          <a:xfrm>
            <a:off x="8181953" y="3981441"/>
            <a:ext cx="93100" cy="118669"/>
          </a:xfrm>
          <a:prstGeom prst="ellipse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EBAE1F90-D1CD-655A-C719-D96BC91771C4}"/>
              </a:ext>
            </a:extLst>
          </p:cNvPr>
          <p:cNvSpPr/>
          <p:nvPr/>
        </p:nvSpPr>
        <p:spPr>
          <a:xfrm>
            <a:off x="8364833" y="3708663"/>
            <a:ext cx="26184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random seeds per model for variance reduction</a:t>
            </a:r>
            <a:endParaRPr lang="en-US" sz="12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DB1C866C-31BE-4AD8-3CDA-AE8341F9A931}"/>
              </a:ext>
            </a:extLst>
          </p:cNvPr>
          <p:cNvSpPr/>
          <p:nvPr/>
        </p:nvSpPr>
        <p:spPr>
          <a:xfrm>
            <a:off x="8181953" y="4420353"/>
            <a:ext cx="93100" cy="118669"/>
          </a:xfrm>
          <a:prstGeom prst="ellipse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5345D0D8-0793-1A21-07D2-7509A7B084E4}"/>
              </a:ext>
            </a:extLst>
          </p:cNvPr>
          <p:cNvSpPr/>
          <p:nvPr/>
        </p:nvSpPr>
        <p:spPr>
          <a:xfrm>
            <a:off x="8351004" y="4147575"/>
            <a:ext cx="26184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predictions prevent overfitting in meta-learner</a:t>
            </a:r>
            <a:endParaRPr lang="en-US" sz="120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03F5FBAD-6F7F-A772-BCDD-AA6CDA4D03F6}"/>
              </a:ext>
            </a:extLst>
          </p:cNvPr>
          <p:cNvSpPr/>
          <p:nvPr/>
        </p:nvSpPr>
        <p:spPr>
          <a:xfrm>
            <a:off x="8181953" y="4859265"/>
            <a:ext cx="93100" cy="118669"/>
          </a:xfrm>
          <a:prstGeom prst="ellipse">
            <a:avLst/>
          </a:prstGeom>
          <a:solidFill>
            <a:srgbClr val="B6862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B69FAD5E-565C-D756-B8EB-C951C8276812}"/>
              </a:ext>
            </a:extLst>
          </p:cNvPr>
          <p:cNvSpPr/>
          <p:nvPr/>
        </p:nvSpPr>
        <p:spPr>
          <a:xfrm>
            <a:off x="8351004" y="4583094"/>
            <a:ext cx="26184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CatBoost receive highest weight (30% each)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58136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3E52E-8669-0DD4-E440-6BEB14D0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11E8-0250-1DC5-E16A-2697BFF87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1ECC4-01BB-E96A-3FF0-8ED09225F1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B0FA869F-B771-92FF-BC3D-A9925B4429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DA6D0E0-FE4E-CC01-840D-44777517CA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20741-CE62-FBAB-F52E-1A932ED2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DE39C55-F61C-761A-7A6B-EDA0C4747D15}"/>
              </a:ext>
            </a:extLst>
          </p:cNvPr>
          <p:cNvSpPr/>
          <p:nvPr/>
        </p:nvSpPr>
        <p:spPr>
          <a:xfrm>
            <a:off x="2438400" y="11248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9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Gradient Boosting for V7?</a:t>
            </a:r>
            <a:endParaRPr lang="en-US" sz="4000" dirty="0">
              <a:solidFill>
                <a:srgbClr val="091E40"/>
              </a:solidFill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E94A24FA-E513-ECC5-9E7A-463DB8925433}"/>
              </a:ext>
            </a:extLst>
          </p:cNvPr>
          <p:cNvSpPr/>
          <p:nvPr/>
        </p:nvSpPr>
        <p:spPr>
          <a:xfrm>
            <a:off x="1620175" y="2249694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8A096FEB-FA13-BD39-FB90-323BD1EEAE11}"/>
              </a:ext>
            </a:extLst>
          </p:cNvPr>
          <p:cNvSpPr/>
          <p:nvPr/>
        </p:nvSpPr>
        <p:spPr>
          <a:xfrm>
            <a:off x="1620175" y="2249694"/>
            <a:ext cx="1874520" cy="548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D50DF200-A5B5-E509-FAE8-787BA9674DE7}"/>
              </a:ext>
            </a:extLst>
          </p:cNvPr>
          <p:cNvSpPr/>
          <p:nvPr/>
        </p:nvSpPr>
        <p:spPr>
          <a:xfrm>
            <a:off x="2305975" y="2432574"/>
            <a:ext cx="502920" cy="502920"/>
          </a:xfrm>
          <a:prstGeom prst="ellipse">
            <a:avLst/>
          </a:prstGeom>
          <a:solidFill>
            <a:srgbClr val="B6862C"/>
          </a:solidFill>
          <a:ln/>
        </p:spPr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4A4817CA-D7B4-57E3-7B38-51C8C23DD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415" y="2524014"/>
            <a:ext cx="320040" cy="320040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644034F0-1E85-8E2E-695C-C725D1A70363}"/>
              </a:ext>
            </a:extLst>
          </p:cNvPr>
          <p:cNvSpPr/>
          <p:nvPr/>
        </p:nvSpPr>
        <p:spPr>
          <a:xfrm>
            <a:off x="1711615" y="302693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V7</a:t>
            </a:r>
            <a:endParaRPr lang="en-US" sz="1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339927B-7471-7B68-7815-892AAC240A64}"/>
              </a:ext>
            </a:extLst>
          </p:cNvPr>
          <p:cNvSpPr/>
          <p:nvPr/>
        </p:nvSpPr>
        <p:spPr>
          <a:xfrm>
            <a:off x="1757335" y="362129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GRU/LSTM hybrids used 10 prior admissions × 15 temporal features. V7's new features are all static tabular, there is no sequences to leverage.</a:t>
            </a:r>
            <a:endParaRPr lang="en-US" sz="11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1DE22E4D-7DF2-AE80-1F54-2821383F0B27}"/>
              </a:ext>
            </a:extLst>
          </p:cNvPr>
          <p:cNvSpPr/>
          <p:nvPr/>
        </p:nvSpPr>
        <p:spPr>
          <a:xfrm>
            <a:off x="3837595" y="2258433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A4B5C16B-78D3-AB84-0A85-D8F4CBD07B1A}"/>
              </a:ext>
            </a:extLst>
          </p:cNvPr>
          <p:cNvSpPr/>
          <p:nvPr/>
        </p:nvSpPr>
        <p:spPr>
          <a:xfrm>
            <a:off x="3769015" y="2249694"/>
            <a:ext cx="1874520" cy="54864"/>
          </a:xfrm>
          <a:prstGeom prst="rect">
            <a:avLst/>
          </a:prstGeom>
          <a:solidFill>
            <a:srgbClr val="091E40"/>
          </a:solidFill>
          <a:ln/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2D54394-CA09-42C4-C813-5C2B67828AB8}"/>
              </a:ext>
            </a:extLst>
          </p:cNvPr>
          <p:cNvSpPr/>
          <p:nvPr/>
        </p:nvSpPr>
        <p:spPr>
          <a:xfrm>
            <a:off x="4454815" y="2432574"/>
            <a:ext cx="502920" cy="502920"/>
          </a:xfrm>
          <a:prstGeom prst="ellipse">
            <a:avLst/>
          </a:prstGeom>
          <a:solidFill>
            <a:srgbClr val="B6862C"/>
          </a:solidFill>
          <a:ln/>
        </p:spPr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BBA9B235-448D-A5FE-FE71-B4D5FF5A35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255" y="2524014"/>
            <a:ext cx="320040" cy="320040"/>
          </a:xfrm>
          <a:prstGeom prst="rect">
            <a:avLst/>
          </a:prstGeom>
        </p:spPr>
      </p:pic>
      <p:sp>
        <p:nvSpPr>
          <p:cNvPr id="31" name="Text 14">
            <a:extLst>
              <a:ext uri="{FF2B5EF4-FFF2-40B4-BE49-F238E27FC236}">
                <a16:creationId xmlns:a16="http://schemas.microsoft.com/office/drawing/2014/main" id="{90D90193-011D-E0CC-720F-9805C462950A}"/>
              </a:ext>
            </a:extLst>
          </p:cNvPr>
          <p:cNvSpPr/>
          <p:nvPr/>
        </p:nvSpPr>
        <p:spPr>
          <a:xfrm>
            <a:off x="3860455" y="302693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0ED25BB3-6CA1-38DF-979F-3379D5D6DD88}"/>
              </a:ext>
            </a:extLst>
          </p:cNvPr>
          <p:cNvSpPr/>
          <p:nvPr/>
        </p:nvSpPr>
        <p:spPr>
          <a:xfrm>
            <a:off x="3974755" y="362129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ensemble (0.778) beat best single GBM (0.769) by only +0.009 AUROC. Neural nets did not outperform boosting on V6.</a:t>
            </a:r>
            <a:endParaRPr lang="en-US" sz="11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B41DAE1A-432F-CA07-8F72-6CFF3D4CD7A1}"/>
              </a:ext>
            </a:extLst>
          </p:cNvPr>
          <p:cNvSpPr/>
          <p:nvPr/>
        </p:nvSpPr>
        <p:spPr>
          <a:xfrm>
            <a:off x="5917855" y="2249694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1E86DF3A-082E-15F4-3E3E-17FF9AEE07FC}"/>
              </a:ext>
            </a:extLst>
          </p:cNvPr>
          <p:cNvSpPr/>
          <p:nvPr/>
        </p:nvSpPr>
        <p:spPr>
          <a:xfrm>
            <a:off x="5917855" y="2249694"/>
            <a:ext cx="1874520" cy="54864"/>
          </a:xfrm>
          <a:prstGeom prst="rect">
            <a:avLst/>
          </a:prstGeom>
          <a:solidFill>
            <a:srgbClr val="091E40"/>
          </a:solidFill>
          <a:ln/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64FDB1EC-8265-E772-1109-54BA001EC118}"/>
              </a:ext>
            </a:extLst>
          </p:cNvPr>
          <p:cNvSpPr/>
          <p:nvPr/>
        </p:nvSpPr>
        <p:spPr>
          <a:xfrm>
            <a:off x="6603655" y="2432574"/>
            <a:ext cx="502920" cy="502920"/>
          </a:xfrm>
          <a:prstGeom prst="ellipse">
            <a:avLst/>
          </a:prstGeom>
          <a:solidFill>
            <a:srgbClr val="B6862C"/>
          </a:solidFill>
          <a:ln/>
        </p:spPr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1B69EA35-728E-8612-DF97-1147F3C0CA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095" y="2524014"/>
            <a:ext cx="320040" cy="320040"/>
          </a:xfrm>
          <a:prstGeom prst="rect">
            <a:avLst/>
          </a:prstGeom>
        </p:spPr>
      </p:pic>
      <p:sp>
        <p:nvSpPr>
          <p:cNvPr id="37" name="Text 19">
            <a:extLst>
              <a:ext uri="{FF2B5EF4-FFF2-40B4-BE49-F238E27FC236}">
                <a16:creationId xmlns:a16="http://schemas.microsoft.com/office/drawing/2014/main" id="{9C3A5782-7313-F130-85E8-791D44DAEA42}"/>
              </a:ext>
            </a:extLst>
          </p:cNvPr>
          <p:cNvSpPr/>
          <p:nvPr/>
        </p:nvSpPr>
        <p:spPr>
          <a:xfrm>
            <a:off x="6009295" y="302693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4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F6E5CCCB-24CB-4026-A409-D639912937E2}"/>
              </a:ext>
            </a:extLst>
          </p:cNvPr>
          <p:cNvSpPr/>
          <p:nvPr/>
        </p:nvSpPr>
        <p:spPr>
          <a:xfrm>
            <a:off x="6055015" y="3621294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GBMs support full SHAP attribution which is  essential for actionable discharge insights and answering RQ3.</a:t>
            </a:r>
            <a:endParaRPr lang="en-US" sz="1100" dirty="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C58FF7BC-3ABF-CE87-AEBA-1D31C63EC860}"/>
              </a:ext>
            </a:extLst>
          </p:cNvPr>
          <p:cNvSpPr/>
          <p:nvPr/>
        </p:nvSpPr>
        <p:spPr>
          <a:xfrm>
            <a:off x="8066695" y="2249694"/>
            <a:ext cx="18745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22CF3BFC-B849-E97E-D651-A106A88B163A}"/>
              </a:ext>
            </a:extLst>
          </p:cNvPr>
          <p:cNvSpPr/>
          <p:nvPr/>
        </p:nvSpPr>
        <p:spPr>
          <a:xfrm>
            <a:off x="8066695" y="2249694"/>
            <a:ext cx="1874520" cy="54864"/>
          </a:xfrm>
          <a:prstGeom prst="rect">
            <a:avLst/>
          </a:prstGeom>
          <a:solidFill>
            <a:srgbClr val="091E40"/>
          </a:solidFill>
          <a:ln/>
        </p:spPr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5B2C13D7-5D8F-D750-B91E-91209C4EB3B0}"/>
              </a:ext>
            </a:extLst>
          </p:cNvPr>
          <p:cNvSpPr/>
          <p:nvPr/>
        </p:nvSpPr>
        <p:spPr>
          <a:xfrm>
            <a:off x="8752495" y="2432574"/>
            <a:ext cx="502920" cy="502920"/>
          </a:xfrm>
          <a:prstGeom prst="ellipse">
            <a:avLst/>
          </a:prstGeom>
          <a:solidFill>
            <a:srgbClr val="B6862C"/>
          </a:solidFill>
          <a:ln/>
        </p:spPr>
      </p:sp>
      <p:pic>
        <p:nvPicPr>
          <p:cNvPr id="42" name="Image 3" descr="preencoded.png">
            <a:extLst>
              <a:ext uri="{FF2B5EF4-FFF2-40B4-BE49-F238E27FC236}">
                <a16:creationId xmlns:a16="http://schemas.microsoft.com/office/drawing/2014/main" id="{D019CBAD-701F-A990-C376-DD426F1D1A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3935" y="2524014"/>
            <a:ext cx="320040" cy="320040"/>
          </a:xfrm>
          <a:prstGeom prst="rect">
            <a:avLst/>
          </a:prstGeom>
        </p:spPr>
      </p:pic>
      <p:sp>
        <p:nvSpPr>
          <p:cNvPr id="43" name="Text 24">
            <a:extLst>
              <a:ext uri="{FF2B5EF4-FFF2-40B4-BE49-F238E27FC236}">
                <a16:creationId xmlns:a16="http://schemas.microsoft.com/office/drawing/2014/main" id="{05EC116A-1E94-B3C9-8DF8-F0B75679129F}"/>
              </a:ext>
            </a:extLst>
          </p:cNvPr>
          <p:cNvSpPr/>
          <p:nvPr/>
        </p:nvSpPr>
        <p:spPr>
          <a:xfrm>
            <a:off x="8158135" y="302693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V7: 50 Static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67C97192-09F0-6D53-18E2-58BAEB58563A}"/>
              </a:ext>
            </a:extLst>
          </p:cNvPr>
          <p:cNvSpPr/>
          <p:nvPr/>
        </p:nvSpPr>
        <p:spPr>
          <a:xfrm>
            <a:off x="8203855" y="3621294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(40 feat) + 5 target encodings + 5 clinical interactions = 50 features. All tabular → ideal for GBM architectures.</a:t>
            </a:r>
            <a:endParaRPr lang="en-US" sz="1100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0B2A07E8-68E4-C422-21B5-A4778A391922}"/>
              </a:ext>
            </a:extLst>
          </p:cNvPr>
          <p:cNvSpPr/>
          <p:nvPr/>
        </p:nvSpPr>
        <p:spPr>
          <a:xfrm>
            <a:off x="1620175" y="5358654"/>
            <a:ext cx="8229600" cy="548640"/>
          </a:xfrm>
          <a:prstGeom prst="rect">
            <a:avLst/>
          </a:prstGeom>
          <a:solidFill>
            <a:srgbClr val="091E4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EC1AA21C-E7A1-8BEC-A4A5-E618554E5D94}"/>
              </a:ext>
            </a:extLst>
          </p:cNvPr>
          <p:cNvSpPr/>
          <p:nvPr/>
        </p:nvSpPr>
        <p:spPr>
          <a:xfrm>
            <a:off x="1803055" y="535865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GBMs are the optimal architecture for V7  matching the data structure, preserving interpretability, and achieving 0.795 AUROC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1652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E6DD2-83B0-437C-2393-B9A244F9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4FFC-D687-EA1C-25E1-530CADA53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D170B-6664-82A3-3BD2-8CB1F3CA2E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6307A690-15D8-CEDE-60FB-DA73350292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D1CF55A-32C9-438B-1060-5B5CB51CB8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64BCA66-17AD-C3A3-C98D-B4EE5EC30A4F}"/>
              </a:ext>
            </a:extLst>
          </p:cNvPr>
          <p:cNvSpPr txBox="1">
            <a:spLocks/>
          </p:cNvSpPr>
          <p:nvPr/>
        </p:nvSpPr>
        <p:spPr>
          <a:xfrm>
            <a:off x="2158808" y="1020423"/>
            <a:ext cx="7874384" cy="1467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Final Model Comparison: </a:t>
            </a:r>
          </a:p>
          <a:p>
            <a:r>
              <a:rPr lang="en-US" sz="4000" b="1" dirty="0">
                <a:solidFill>
                  <a:srgbClr val="091E40"/>
                </a:solidFill>
              </a:rPr>
              <a:t>V1</a:t>
            </a:r>
            <a:r>
              <a:rPr lang="en-US" sz="4000" dirty="0">
                <a:solidFill>
                  <a:srgbClr val="091E40"/>
                </a:solidFill>
              </a:rPr>
              <a:t> vs </a:t>
            </a:r>
            <a:r>
              <a:rPr lang="en-US" sz="4000" b="1" dirty="0">
                <a:solidFill>
                  <a:srgbClr val="091E40"/>
                </a:solidFill>
              </a:rPr>
              <a:t>V6</a:t>
            </a:r>
            <a:r>
              <a:rPr lang="en-US" sz="4000" dirty="0">
                <a:solidFill>
                  <a:srgbClr val="091E40"/>
                </a:solidFill>
              </a:rPr>
              <a:t> vs </a:t>
            </a:r>
            <a:r>
              <a:rPr lang="en-US" sz="4000" b="1" dirty="0">
                <a:solidFill>
                  <a:srgbClr val="091E40"/>
                </a:solidFill>
              </a:rPr>
              <a:t>V7</a:t>
            </a:r>
            <a:r>
              <a:rPr lang="en-US" sz="4000" dirty="0">
                <a:solidFill>
                  <a:srgbClr val="091E40"/>
                </a:solidFill>
              </a:rPr>
              <a:t> vs </a:t>
            </a:r>
            <a:r>
              <a:rPr lang="en-US" sz="4000" b="1" dirty="0">
                <a:solidFill>
                  <a:srgbClr val="091E40"/>
                </a:solidFill>
              </a:rPr>
              <a:t>Expanded</a:t>
            </a:r>
            <a:endParaRPr lang="en-US" sz="5400" b="1" dirty="0">
              <a:solidFill>
                <a:srgbClr val="091E4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A179F3-23CA-B8D7-109D-FF4A7564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25</a:t>
            </a:fld>
            <a:endParaRPr 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7807E7B3-F584-C141-9D32-E3FFCBB05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1163"/>
              </p:ext>
            </p:extLst>
          </p:nvPr>
        </p:nvGraphicFramePr>
        <p:xfrm>
          <a:off x="1524000" y="3120709"/>
          <a:ext cx="8781790" cy="2875843"/>
        </p:xfrm>
        <a:graphic>
          <a:graphicData uri="http://schemas.openxmlformats.org/drawingml/2006/table">
            <a:tbl>
              <a:tblPr/>
              <a:tblGrid>
                <a:gridCol w="199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6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6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79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(21 feat)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V6 (40 feat)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V7 (50 feat)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AUROC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A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A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4-GBM Blend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4-GBM Blend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A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Complexity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A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8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3F1EC349-5B1D-BB0B-3A5F-432BED372053}"/>
              </a:ext>
            </a:extLst>
          </p:cNvPr>
          <p:cNvSpPr/>
          <p:nvPr/>
        </p:nvSpPr>
        <p:spPr>
          <a:xfrm>
            <a:off x="1610168" y="596209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achieves 99.4% of the expanded model's performance with a compact, interpretable feature set. Additional feature engineering beyond the core clinical domains yielded only marginal improvement (+0.005 AUROC).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52C8FB-01BB-15C0-B383-BC34F3D9CAD5}"/>
              </a:ext>
            </a:extLst>
          </p:cNvPr>
          <p:cNvSpPr txBox="1"/>
          <p:nvPr/>
        </p:nvSpPr>
        <p:spPr>
          <a:xfrm>
            <a:off x="1524000" y="2428341"/>
            <a:ext cx="8711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 3.</a:t>
            </a:r>
            <a:r>
              <a:rPr lang="en-US" dirty="0"/>
              <a:t> Final model comparison across dataset versions: Best AUROC, model type, interpretability, and deployment complexity.</a:t>
            </a:r>
          </a:p>
        </p:txBody>
      </p:sp>
    </p:spTree>
    <p:extLst>
      <p:ext uri="{BB962C8B-B14F-4D97-AF65-F5344CB8AC3E}">
        <p14:creationId xmlns:p14="http://schemas.microsoft.com/office/powerpoint/2010/main" val="271746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78EB2-D396-8006-4659-5DB3248F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6F79F2-F00A-E611-E5AF-435CEFBBB3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14B43EC8-A1E3-9715-FD4F-63DEA5C9C4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ED59026-62FA-6F9E-D62A-AA1823784E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9A46A-70E1-374D-B63B-6BF85B12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26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FE4F8DD-3B18-5776-D611-639754B2426F}"/>
              </a:ext>
            </a:extLst>
          </p:cNvPr>
          <p:cNvSpPr txBox="1">
            <a:spLocks/>
          </p:cNvSpPr>
          <p:nvPr/>
        </p:nvSpPr>
        <p:spPr>
          <a:xfrm>
            <a:off x="753476" y="1165410"/>
            <a:ext cx="9761769" cy="100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091E40"/>
                </a:solidFill>
              </a:rPr>
              <a:t>Benchmark Comparison</a:t>
            </a:r>
          </a:p>
          <a:p>
            <a:r>
              <a:rPr lang="en-US" sz="1800" i="1" dirty="0">
                <a:solidFill>
                  <a:srgbClr val="4A5568"/>
                </a:solidFill>
              </a:rPr>
              <a:t>30-Day All-Cause Readmission Prediction on MIMIC Data</a:t>
            </a:r>
          </a:p>
        </p:txBody>
      </p:sp>
      <p:sp>
        <p:nvSpPr>
          <p:cNvPr id="22" name="TblLabel">
            <a:extLst>
              <a:ext uri="{FF2B5EF4-FFF2-40B4-BE49-F238E27FC236}">
                <a16:creationId xmlns:a16="http://schemas.microsoft.com/office/drawing/2014/main" id="{C02FE22E-69D4-F47F-9755-DA6ABDD675CF}"/>
              </a:ext>
            </a:extLst>
          </p:cNvPr>
          <p:cNvSpPr/>
          <p:nvPr/>
        </p:nvSpPr>
        <p:spPr>
          <a:xfrm>
            <a:off x="650417" y="2594981"/>
            <a:ext cx="5500000" cy="32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400" b="1" dirty="0">
                <a:solidFill>
                  <a:srgbClr val="1B3A57"/>
                </a:solidFill>
                <a:latin typeface="Calibri" pitchFamily="34" charset="0"/>
              </a:rPr>
              <a:t>Published Benchmarks</a:t>
            </a:r>
          </a:p>
        </p:txBody>
      </p:sp>
      <p:sp>
        <p:nvSpPr>
          <p:cNvPr id="23" name="Div1">
            <a:extLst>
              <a:ext uri="{FF2B5EF4-FFF2-40B4-BE49-F238E27FC236}">
                <a16:creationId xmlns:a16="http://schemas.microsoft.com/office/drawing/2014/main" id="{AAD24359-F120-66A8-E023-A365CE4F5676}"/>
              </a:ext>
            </a:extLst>
          </p:cNvPr>
          <p:cNvSpPr/>
          <p:nvPr/>
        </p:nvSpPr>
        <p:spPr>
          <a:xfrm flipV="1">
            <a:off x="662417" y="2892122"/>
            <a:ext cx="4992001" cy="45719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HdrBg">
            <a:extLst>
              <a:ext uri="{FF2B5EF4-FFF2-40B4-BE49-F238E27FC236}">
                <a16:creationId xmlns:a16="http://schemas.microsoft.com/office/drawing/2014/main" id="{24763655-BC62-07EE-4776-403B2457947B}"/>
              </a:ext>
            </a:extLst>
          </p:cNvPr>
          <p:cNvSpPr/>
          <p:nvPr/>
        </p:nvSpPr>
        <p:spPr>
          <a:xfrm>
            <a:off x="662417" y="3003731"/>
            <a:ext cx="5000000" cy="400000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5" name="H0">
            <a:extLst>
              <a:ext uri="{FF2B5EF4-FFF2-40B4-BE49-F238E27FC236}">
                <a16:creationId xmlns:a16="http://schemas.microsoft.com/office/drawing/2014/main" id="{0BE6EBFE-FBA0-BBBE-00FB-CC07C10DDB40}"/>
              </a:ext>
            </a:extLst>
          </p:cNvPr>
          <p:cNvSpPr/>
          <p:nvPr/>
        </p:nvSpPr>
        <p:spPr>
          <a:xfrm>
            <a:off x="662417" y="3003731"/>
            <a:ext cx="22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Study</a:t>
            </a:r>
          </a:p>
        </p:txBody>
      </p:sp>
      <p:sp>
        <p:nvSpPr>
          <p:cNvPr id="27" name="H1">
            <a:extLst>
              <a:ext uri="{FF2B5EF4-FFF2-40B4-BE49-F238E27FC236}">
                <a16:creationId xmlns:a16="http://schemas.microsoft.com/office/drawing/2014/main" id="{53724020-2500-680C-47E8-CEADED29EA2A}"/>
              </a:ext>
            </a:extLst>
          </p:cNvPr>
          <p:cNvSpPr/>
          <p:nvPr/>
        </p:nvSpPr>
        <p:spPr>
          <a:xfrm>
            <a:off x="2862417" y="3003731"/>
            <a:ext cx="18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Approach</a:t>
            </a:r>
          </a:p>
        </p:txBody>
      </p:sp>
      <p:sp>
        <p:nvSpPr>
          <p:cNvPr id="28" name="H2">
            <a:extLst>
              <a:ext uri="{FF2B5EF4-FFF2-40B4-BE49-F238E27FC236}">
                <a16:creationId xmlns:a16="http://schemas.microsoft.com/office/drawing/2014/main" id="{BB55AA63-E2EE-77B3-1194-B76EB2C2FA23}"/>
              </a:ext>
            </a:extLst>
          </p:cNvPr>
          <p:cNvSpPr/>
          <p:nvPr/>
        </p:nvSpPr>
        <p:spPr>
          <a:xfrm>
            <a:off x="4662417" y="3003731"/>
            <a:ext cx="10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AUROC</a:t>
            </a:r>
          </a:p>
        </p:txBody>
      </p:sp>
      <p:sp>
        <p:nvSpPr>
          <p:cNvPr id="29" name="R1Bg">
            <a:extLst>
              <a:ext uri="{FF2B5EF4-FFF2-40B4-BE49-F238E27FC236}">
                <a16:creationId xmlns:a16="http://schemas.microsoft.com/office/drawing/2014/main" id="{0CA72A5E-AF9C-D5E4-E26E-E0BCEE8BCB2E}"/>
              </a:ext>
            </a:extLst>
          </p:cNvPr>
          <p:cNvSpPr/>
          <p:nvPr/>
        </p:nvSpPr>
        <p:spPr>
          <a:xfrm>
            <a:off x="662417" y="3403731"/>
            <a:ext cx="5000000" cy="4000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0" name="R1C0">
            <a:extLst>
              <a:ext uri="{FF2B5EF4-FFF2-40B4-BE49-F238E27FC236}">
                <a16:creationId xmlns:a16="http://schemas.microsoft.com/office/drawing/2014/main" id="{74B2F3B8-7708-BBD2-4836-65BB8260B7AD}"/>
              </a:ext>
            </a:extLst>
          </p:cNvPr>
          <p:cNvSpPr/>
          <p:nvPr/>
        </p:nvSpPr>
        <p:spPr>
          <a:xfrm>
            <a:off x="662417" y="3403731"/>
            <a:ext cx="22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LACE Index (van Walraven et al., 2010)</a:t>
            </a:r>
          </a:p>
        </p:txBody>
      </p:sp>
      <p:sp>
        <p:nvSpPr>
          <p:cNvPr id="31" name="R1C1">
            <a:extLst>
              <a:ext uri="{FF2B5EF4-FFF2-40B4-BE49-F238E27FC236}">
                <a16:creationId xmlns:a16="http://schemas.microsoft.com/office/drawing/2014/main" id="{C29C6FF3-738F-C4F8-5A51-BC79A1E929A2}"/>
              </a:ext>
            </a:extLst>
          </p:cNvPr>
          <p:cNvSpPr/>
          <p:nvPr/>
        </p:nvSpPr>
        <p:spPr>
          <a:xfrm>
            <a:off x="2862417" y="3403731"/>
            <a:ext cx="18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Traditional Clinical Score</a:t>
            </a:r>
          </a:p>
        </p:txBody>
      </p:sp>
      <p:sp>
        <p:nvSpPr>
          <p:cNvPr id="32" name="R1C2">
            <a:extLst>
              <a:ext uri="{FF2B5EF4-FFF2-40B4-BE49-F238E27FC236}">
                <a16:creationId xmlns:a16="http://schemas.microsoft.com/office/drawing/2014/main" id="{84C7BDB7-EF07-A44F-E307-BD718D70C145}"/>
              </a:ext>
            </a:extLst>
          </p:cNvPr>
          <p:cNvSpPr/>
          <p:nvPr/>
        </p:nvSpPr>
        <p:spPr>
          <a:xfrm>
            <a:off x="4662417" y="3403731"/>
            <a:ext cx="10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0.684</a:t>
            </a:r>
          </a:p>
        </p:txBody>
      </p:sp>
      <p:sp>
        <p:nvSpPr>
          <p:cNvPr id="33" name="R2Bg">
            <a:extLst>
              <a:ext uri="{FF2B5EF4-FFF2-40B4-BE49-F238E27FC236}">
                <a16:creationId xmlns:a16="http://schemas.microsoft.com/office/drawing/2014/main" id="{9E7F140B-4B02-5A53-2CAF-4BC284428395}"/>
              </a:ext>
            </a:extLst>
          </p:cNvPr>
          <p:cNvSpPr/>
          <p:nvPr/>
        </p:nvSpPr>
        <p:spPr>
          <a:xfrm>
            <a:off x="662417" y="3803731"/>
            <a:ext cx="5000000" cy="4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4" name="R2C0">
            <a:extLst>
              <a:ext uri="{FF2B5EF4-FFF2-40B4-BE49-F238E27FC236}">
                <a16:creationId xmlns:a16="http://schemas.microsoft.com/office/drawing/2014/main" id="{CA3A4D0E-EC68-B310-0C08-BA0BF6CDD9E4}"/>
              </a:ext>
            </a:extLst>
          </p:cNvPr>
          <p:cNvSpPr/>
          <p:nvPr/>
        </p:nvSpPr>
        <p:spPr>
          <a:xfrm>
            <a:off x="662417" y="3803731"/>
            <a:ext cx="22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Huang et al., 2020 (ClinicalBERT)</a:t>
            </a:r>
          </a:p>
        </p:txBody>
      </p:sp>
      <p:sp>
        <p:nvSpPr>
          <p:cNvPr id="35" name="R2C1">
            <a:extLst>
              <a:ext uri="{FF2B5EF4-FFF2-40B4-BE49-F238E27FC236}">
                <a16:creationId xmlns:a16="http://schemas.microsoft.com/office/drawing/2014/main" id="{3788EE03-FFF4-9C8D-4AC0-BA8901BD56D5}"/>
              </a:ext>
            </a:extLst>
          </p:cNvPr>
          <p:cNvSpPr/>
          <p:nvPr/>
        </p:nvSpPr>
        <p:spPr>
          <a:xfrm>
            <a:off x="2862417" y="3803731"/>
            <a:ext cx="18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BERT + Clinical Notes</a:t>
            </a:r>
          </a:p>
        </p:txBody>
      </p:sp>
      <p:sp>
        <p:nvSpPr>
          <p:cNvPr id="36" name="R2C2">
            <a:extLst>
              <a:ext uri="{FF2B5EF4-FFF2-40B4-BE49-F238E27FC236}">
                <a16:creationId xmlns:a16="http://schemas.microsoft.com/office/drawing/2014/main" id="{DDF5423C-4861-0EEB-3903-CDCC36984AAC}"/>
              </a:ext>
            </a:extLst>
          </p:cNvPr>
          <p:cNvSpPr/>
          <p:nvPr/>
        </p:nvSpPr>
        <p:spPr>
          <a:xfrm>
            <a:off x="4662417" y="3803731"/>
            <a:ext cx="10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0.714</a:t>
            </a:r>
          </a:p>
        </p:txBody>
      </p:sp>
      <p:sp>
        <p:nvSpPr>
          <p:cNvPr id="37" name="OurBg">
            <a:extLst>
              <a:ext uri="{FF2B5EF4-FFF2-40B4-BE49-F238E27FC236}">
                <a16:creationId xmlns:a16="http://schemas.microsoft.com/office/drawing/2014/main" id="{804E3DF0-998A-1D59-52E2-136AAD3E4BE5}"/>
              </a:ext>
            </a:extLst>
          </p:cNvPr>
          <p:cNvSpPr/>
          <p:nvPr/>
        </p:nvSpPr>
        <p:spPr>
          <a:xfrm>
            <a:off x="662417" y="4203731"/>
            <a:ext cx="5000000" cy="4000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8" name="OurC0">
            <a:extLst>
              <a:ext uri="{FF2B5EF4-FFF2-40B4-BE49-F238E27FC236}">
                <a16:creationId xmlns:a16="http://schemas.microsoft.com/office/drawing/2014/main" id="{5119AACC-5D6E-2A51-AD30-E9FC6A4175E0}"/>
              </a:ext>
            </a:extLst>
          </p:cNvPr>
          <p:cNvSpPr/>
          <p:nvPr/>
        </p:nvSpPr>
        <p:spPr>
          <a:xfrm>
            <a:off x="662417" y="4203731"/>
            <a:ext cx="22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200" b="1" dirty="0">
                <a:solidFill>
                  <a:srgbClr val="1B3A57"/>
                </a:solidFill>
                <a:latin typeface="Calibri" pitchFamily="34" charset="0"/>
              </a:rPr>
              <a:t>  Ours (2026)</a:t>
            </a:r>
          </a:p>
        </p:txBody>
      </p:sp>
      <p:sp>
        <p:nvSpPr>
          <p:cNvPr id="39" name="OurC1">
            <a:extLst>
              <a:ext uri="{FF2B5EF4-FFF2-40B4-BE49-F238E27FC236}">
                <a16:creationId xmlns:a16="http://schemas.microsoft.com/office/drawing/2014/main" id="{83382AF5-A786-1CAD-471E-05C2D8D6C417}"/>
              </a:ext>
            </a:extLst>
          </p:cNvPr>
          <p:cNvSpPr/>
          <p:nvPr/>
        </p:nvSpPr>
        <p:spPr>
          <a:xfrm>
            <a:off x="2862417" y="4203731"/>
            <a:ext cx="18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200" b="1" dirty="0">
                <a:solidFill>
                  <a:srgbClr val="1B3A57"/>
                </a:solidFill>
                <a:latin typeface="Calibri" pitchFamily="34" charset="0"/>
              </a:rPr>
              <a:t>GBM Ensemble (50 features)</a:t>
            </a:r>
          </a:p>
        </p:txBody>
      </p:sp>
      <p:sp>
        <p:nvSpPr>
          <p:cNvPr id="40" name="OurC2">
            <a:extLst>
              <a:ext uri="{FF2B5EF4-FFF2-40B4-BE49-F238E27FC236}">
                <a16:creationId xmlns:a16="http://schemas.microsoft.com/office/drawing/2014/main" id="{DCBA94E0-46F5-1E13-9F06-BB5A6EFAAA4D}"/>
              </a:ext>
            </a:extLst>
          </p:cNvPr>
          <p:cNvSpPr/>
          <p:nvPr/>
        </p:nvSpPr>
        <p:spPr>
          <a:xfrm>
            <a:off x="4662417" y="4203731"/>
            <a:ext cx="1000000" cy="4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200" b="1" dirty="0">
                <a:solidFill>
                  <a:srgbClr val="1B3A57"/>
                </a:solidFill>
                <a:latin typeface="Calibri" pitchFamily="34" charset="0"/>
              </a:rPr>
              <a:t>0.795</a:t>
            </a:r>
          </a:p>
        </p:txBody>
      </p:sp>
      <p:sp>
        <p:nvSpPr>
          <p:cNvPr id="41" name="OurAccent">
            <a:extLst>
              <a:ext uri="{FF2B5EF4-FFF2-40B4-BE49-F238E27FC236}">
                <a16:creationId xmlns:a16="http://schemas.microsoft.com/office/drawing/2014/main" id="{56D44E81-A139-9F9B-CC31-4C5D13285912}"/>
              </a:ext>
            </a:extLst>
          </p:cNvPr>
          <p:cNvSpPr/>
          <p:nvPr/>
        </p:nvSpPr>
        <p:spPr>
          <a:xfrm>
            <a:off x="662417" y="4203731"/>
            <a:ext cx="45720" cy="400000"/>
          </a:xfrm>
          <a:prstGeom prst="rect">
            <a:avLst/>
          </a:prstGeom>
          <a:solidFill>
            <a:srgbClr val="E8B93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2" name="RowLine0">
            <a:extLst>
              <a:ext uri="{FF2B5EF4-FFF2-40B4-BE49-F238E27FC236}">
                <a16:creationId xmlns:a16="http://schemas.microsoft.com/office/drawing/2014/main" id="{59F5C45F-2B03-89D1-9749-C36BE2510C92}"/>
              </a:ext>
            </a:extLst>
          </p:cNvPr>
          <p:cNvSpPr/>
          <p:nvPr/>
        </p:nvSpPr>
        <p:spPr>
          <a:xfrm>
            <a:off x="662417" y="3003731"/>
            <a:ext cx="50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3" name="RowLine1">
            <a:extLst>
              <a:ext uri="{FF2B5EF4-FFF2-40B4-BE49-F238E27FC236}">
                <a16:creationId xmlns:a16="http://schemas.microsoft.com/office/drawing/2014/main" id="{F2FFDD33-87C5-51BF-74BC-A3E9398A2147}"/>
              </a:ext>
            </a:extLst>
          </p:cNvPr>
          <p:cNvSpPr/>
          <p:nvPr/>
        </p:nvSpPr>
        <p:spPr>
          <a:xfrm>
            <a:off x="662417" y="3403731"/>
            <a:ext cx="50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4" name="RowLine2">
            <a:extLst>
              <a:ext uri="{FF2B5EF4-FFF2-40B4-BE49-F238E27FC236}">
                <a16:creationId xmlns:a16="http://schemas.microsoft.com/office/drawing/2014/main" id="{26C1B395-2B30-DB40-6933-7913B4A87DEC}"/>
              </a:ext>
            </a:extLst>
          </p:cNvPr>
          <p:cNvSpPr/>
          <p:nvPr/>
        </p:nvSpPr>
        <p:spPr>
          <a:xfrm>
            <a:off x="662417" y="3803731"/>
            <a:ext cx="50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5" name="RowLine3">
            <a:extLst>
              <a:ext uri="{FF2B5EF4-FFF2-40B4-BE49-F238E27FC236}">
                <a16:creationId xmlns:a16="http://schemas.microsoft.com/office/drawing/2014/main" id="{35DD6FD1-B95F-0F92-EAE9-910E619DF860}"/>
              </a:ext>
            </a:extLst>
          </p:cNvPr>
          <p:cNvSpPr/>
          <p:nvPr/>
        </p:nvSpPr>
        <p:spPr>
          <a:xfrm>
            <a:off x="662417" y="4203731"/>
            <a:ext cx="50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6" name="RowLine4">
            <a:extLst>
              <a:ext uri="{FF2B5EF4-FFF2-40B4-BE49-F238E27FC236}">
                <a16:creationId xmlns:a16="http://schemas.microsoft.com/office/drawing/2014/main" id="{B10A6426-2028-E82B-C30B-22037CD9EEA2}"/>
              </a:ext>
            </a:extLst>
          </p:cNvPr>
          <p:cNvSpPr/>
          <p:nvPr/>
        </p:nvSpPr>
        <p:spPr>
          <a:xfrm>
            <a:off x="662417" y="4603731"/>
            <a:ext cx="50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7" name="TkBg">
            <a:extLst>
              <a:ext uri="{FF2B5EF4-FFF2-40B4-BE49-F238E27FC236}">
                <a16:creationId xmlns:a16="http://schemas.microsoft.com/office/drawing/2014/main" id="{E1FBCF7D-F177-8A5A-6A99-BD736C967001}"/>
              </a:ext>
            </a:extLst>
          </p:cNvPr>
          <p:cNvSpPr/>
          <p:nvPr/>
        </p:nvSpPr>
        <p:spPr>
          <a:xfrm>
            <a:off x="6230419" y="2342910"/>
            <a:ext cx="5200000" cy="400000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>
              <a:solidFill>
                <a:srgbClr val="B6862C"/>
              </a:solidFill>
            </a:endParaRPr>
          </a:p>
        </p:txBody>
      </p:sp>
      <p:sp>
        <p:nvSpPr>
          <p:cNvPr id="48" name="TkHdr">
            <a:extLst>
              <a:ext uri="{FF2B5EF4-FFF2-40B4-BE49-F238E27FC236}">
                <a16:creationId xmlns:a16="http://schemas.microsoft.com/office/drawing/2014/main" id="{ACBF59EF-03D8-6278-8FAA-659B83C7B1C2}"/>
              </a:ext>
            </a:extLst>
          </p:cNvPr>
          <p:cNvSpPr/>
          <p:nvPr/>
        </p:nvSpPr>
        <p:spPr>
          <a:xfrm>
            <a:off x="6450417" y="2442910"/>
            <a:ext cx="4800000" cy="35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600" b="1" dirty="0">
                <a:solidFill>
                  <a:srgbClr val="1B3A57"/>
                </a:solidFill>
                <a:latin typeface="Calibri" pitchFamily="34" charset="0"/>
              </a:rPr>
              <a:t>Key Takeaways</a:t>
            </a:r>
          </a:p>
        </p:txBody>
      </p:sp>
      <p:sp>
        <p:nvSpPr>
          <p:cNvPr id="49" name="Div2">
            <a:extLst>
              <a:ext uri="{FF2B5EF4-FFF2-40B4-BE49-F238E27FC236}">
                <a16:creationId xmlns:a16="http://schemas.microsoft.com/office/drawing/2014/main" id="{36AD8EE7-1856-381E-DEDC-7EEA69EF0B49}"/>
              </a:ext>
            </a:extLst>
          </p:cNvPr>
          <p:cNvSpPr/>
          <p:nvPr/>
        </p:nvSpPr>
        <p:spPr>
          <a:xfrm>
            <a:off x="6450417" y="2792910"/>
            <a:ext cx="4800000" cy="27432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0" name="TkBar0">
            <a:extLst>
              <a:ext uri="{FF2B5EF4-FFF2-40B4-BE49-F238E27FC236}">
                <a16:creationId xmlns:a16="http://schemas.microsoft.com/office/drawing/2014/main" id="{C5448356-0800-FE06-8302-4ED11FCDE409}"/>
              </a:ext>
            </a:extLst>
          </p:cNvPr>
          <p:cNvSpPr/>
          <p:nvPr/>
        </p:nvSpPr>
        <p:spPr>
          <a:xfrm>
            <a:off x="6450417" y="2922910"/>
            <a:ext cx="64008" cy="780000"/>
          </a:xfrm>
          <a:prstGeom prst="rect">
            <a:avLst/>
          </a:prstGeom>
          <a:solidFill>
            <a:srgbClr val="091E40"/>
          </a:solidFill>
          <a:ln>
            <a:solidFill>
              <a:srgbClr val="091E4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51" name="TkT0">
            <a:extLst>
              <a:ext uri="{FF2B5EF4-FFF2-40B4-BE49-F238E27FC236}">
                <a16:creationId xmlns:a16="http://schemas.microsoft.com/office/drawing/2014/main" id="{4C8594D4-AA96-D050-3E60-2E0E494B0807}"/>
              </a:ext>
            </a:extLst>
          </p:cNvPr>
          <p:cNvSpPr/>
          <p:nvPr/>
        </p:nvSpPr>
        <p:spPr>
          <a:xfrm>
            <a:off x="6630417" y="2942910"/>
            <a:ext cx="4600000" cy="28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400" b="1" dirty="0">
                <a:solidFill>
                  <a:srgbClr val="B6862C"/>
                </a:solidFill>
                <a:latin typeface="Calibri" pitchFamily="34" charset="0"/>
              </a:rPr>
              <a:t>Outperforms Traditional Scores</a:t>
            </a:r>
          </a:p>
        </p:txBody>
      </p:sp>
      <p:sp>
        <p:nvSpPr>
          <p:cNvPr id="52" name="TkD0">
            <a:extLst>
              <a:ext uri="{FF2B5EF4-FFF2-40B4-BE49-F238E27FC236}">
                <a16:creationId xmlns:a16="http://schemas.microsoft.com/office/drawing/2014/main" id="{DCE0DA3B-1BC7-5D76-F46E-367935AEC3CF}"/>
              </a:ext>
            </a:extLst>
          </p:cNvPr>
          <p:cNvSpPr/>
          <p:nvPr/>
        </p:nvSpPr>
        <p:spPr>
          <a:xfrm>
            <a:off x="6630417" y="3232910"/>
            <a:ext cx="4600000" cy="44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Our model surpasses the LACE index by +0.111 AUROC, a 16% relative improvement</a:t>
            </a:r>
          </a:p>
        </p:txBody>
      </p:sp>
      <p:sp>
        <p:nvSpPr>
          <p:cNvPr id="53" name="TkBar1">
            <a:extLst>
              <a:ext uri="{FF2B5EF4-FFF2-40B4-BE49-F238E27FC236}">
                <a16:creationId xmlns:a16="http://schemas.microsoft.com/office/drawing/2014/main" id="{82581AFE-780C-588F-C2CB-2130D85DD6C9}"/>
              </a:ext>
            </a:extLst>
          </p:cNvPr>
          <p:cNvSpPr/>
          <p:nvPr/>
        </p:nvSpPr>
        <p:spPr>
          <a:xfrm>
            <a:off x="6450417" y="3792910"/>
            <a:ext cx="64008" cy="780000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4" name="TkT1">
            <a:extLst>
              <a:ext uri="{FF2B5EF4-FFF2-40B4-BE49-F238E27FC236}">
                <a16:creationId xmlns:a16="http://schemas.microsoft.com/office/drawing/2014/main" id="{A817BCC8-2634-A4E1-DE4B-A657AED80207}"/>
              </a:ext>
            </a:extLst>
          </p:cNvPr>
          <p:cNvSpPr/>
          <p:nvPr/>
        </p:nvSpPr>
        <p:spPr>
          <a:xfrm>
            <a:off x="6630417" y="3812910"/>
            <a:ext cx="4600000" cy="28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400" b="1" dirty="0">
                <a:solidFill>
                  <a:srgbClr val="B6862C"/>
                </a:solidFill>
                <a:latin typeface="Calibri" pitchFamily="34" charset="0"/>
              </a:rPr>
              <a:t>Exceeds NLP-Based Approaches</a:t>
            </a:r>
          </a:p>
        </p:txBody>
      </p:sp>
      <p:sp>
        <p:nvSpPr>
          <p:cNvPr id="55" name="TkD1">
            <a:extLst>
              <a:ext uri="{FF2B5EF4-FFF2-40B4-BE49-F238E27FC236}">
                <a16:creationId xmlns:a16="http://schemas.microsoft.com/office/drawing/2014/main" id="{E918E42D-C2BC-82C6-87DB-2AC70E70D3FC}"/>
              </a:ext>
            </a:extLst>
          </p:cNvPr>
          <p:cNvSpPr/>
          <p:nvPr/>
        </p:nvSpPr>
        <p:spPr>
          <a:xfrm>
            <a:off x="6630417" y="4102910"/>
            <a:ext cx="4600000" cy="44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Achieves higher AUROC than ClinicalBERT without requiring clinical notes or NLP pipelines</a:t>
            </a:r>
          </a:p>
        </p:txBody>
      </p:sp>
      <p:sp>
        <p:nvSpPr>
          <p:cNvPr id="57" name="TkBar2">
            <a:extLst>
              <a:ext uri="{FF2B5EF4-FFF2-40B4-BE49-F238E27FC236}">
                <a16:creationId xmlns:a16="http://schemas.microsoft.com/office/drawing/2014/main" id="{B97A68C3-6CD3-A148-BC1F-7FABB3CE834D}"/>
              </a:ext>
            </a:extLst>
          </p:cNvPr>
          <p:cNvSpPr/>
          <p:nvPr/>
        </p:nvSpPr>
        <p:spPr>
          <a:xfrm>
            <a:off x="6450417" y="4662910"/>
            <a:ext cx="64008" cy="7800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8" name="TkT2">
            <a:extLst>
              <a:ext uri="{FF2B5EF4-FFF2-40B4-BE49-F238E27FC236}">
                <a16:creationId xmlns:a16="http://schemas.microsoft.com/office/drawing/2014/main" id="{6784FF70-D5AC-63D0-0163-6BAABEF89060}"/>
              </a:ext>
            </a:extLst>
          </p:cNvPr>
          <p:cNvSpPr/>
          <p:nvPr/>
        </p:nvSpPr>
        <p:spPr>
          <a:xfrm>
            <a:off x="6630417" y="4682910"/>
            <a:ext cx="4600000" cy="28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400" b="1" dirty="0">
                <a:solidFill>
                  <a:srgbClr val="B6862C"/>
                </a:solidFill>
                <a:latin typeface="Calibri" pitchFamily="34" charset="0"/>
              </a:rPr>
              <a:t>Structured Data Only</a:t>
            </a:r>
          </a:p>
        </p:txBody>
      </p:sp>
      <p:sp>
        <p:nvSpPr>
          <p:cNvPr id="59" name="TkD2">
            <a:extLst>
              <a:ext uri="{FF2B5EF4-FFF2-40B4-BE49-F238E27FC236}">
                <a16:creationId xmlns:a16="http://schemas.microsoft.com/office/drawing/2014/main" id="{B181A1D5-EAC2-1C4E-273C-01B81B70B90C}"/>
              </a:ext>
            </a:extLst>
          </p:cNvPr>
          <p:cNvSpPr/>
          <p:nvPr/>
        </p:nvSpPr>
        <p:spPr>
          <a:xfrm>
            <a:off x="6630417" y="4972910"/>
            <a:ext cx="4600000" cy="44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50 interpretable engineered features from structured EHR data — no notes, imaging, or temporal graphs</a:t>
            </a:r>
          </a:p>
        </p:txBody>
      </p:sp>
      <p:sp>
        <p:nvSpPr>
          <p:cNvPr id="60" name="TkBar3">
            <a:extLst>
              <a:ext uri="{FF2B5EF4-FFF2-40B4-BE49-F238E27FC236}">
                <a16:creationId xmlns:a16="http://schemas.microsoft.com/office/drawing/2014/main" id="{FF78C416-E0C5-AE94-1B68-91B771A23627}"/>
              </a:ext>
            </a:extLst>
          </p:cNvPr>
          <p:cNvSpPr/>
          <p:nvPr/>
        </p:nvSpPr>
        <p:spPr>
          <a:xfrm>
            <a:off x="6450417" y="5532910"/>
            <a:ext cx="64008" cy="780000"/>
          </a:xfrm>
          <a:prstGeom prst="rect">
            <a:avLst/>
          </a:prstGeom>
          <a:solidFill>
            <a:srgbClr val="091E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1" name="TkT3">
            <a:extLst>
              <a:ext uri="{FF2B5EF4-FFF2-40B4-BE49-F238E27FC236}">
                <a16:creationId xmlns:a16="http://schemas.microsoft.com/office/drawing/2014/main" id="{EC1F30BB-4481-B804-DE24-65C719963779}"/>
              </a:ext>
            </a:extLst>
          </p:cNvPr>
          <p:cNvSpPr/>
          <p:nvPr/>
        </p:nvSpPr>
        <p:spPr>
          <a:xfrm>
            <a:off x="6630417" y="5552910"/>
            <a:ext cx="4600000" cy="28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400" b="1" dirty="0">
                <a:solidFill>
                  <a:srgbClr val="B6862C"/>
                </a:solidFill>
                <a:latin typeface="Calibri" pitchFamily="34" charset="0"/>
              </a:rPr>
              <a:t>Clinically Deployable</a:t>
            </a:r>
          </a:p>
        </p:txBody>
      </p:sp>
      <p:sp>
        <p:nvSpPr>
          <p:cNvPr id="62" name="TkD3">
            <a:extLst>
              <a:ext uri="{FF2B5EF4-FFF2-40B4-BE49-F238E27FC236}">
                <a16:creationId xmlns:a16="http://schemas.microsoft.com/office/drawing/2014/main" id="{3B89FDE3-2E62-3A07-CD8E-9524C9CA07C0}"/>
              </a:ext>
            </a:extLst>
          </p:cNvPr>
          <p:cNvSpPr/>
          <p:nvPr/>
        </p:nvSpPr>
        <p:spPr>
          <a:xfrm>
            <a:off x="6630417" y="5842910"/>
            <a:ext cx="4600000" cy="44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200" dirty="0">
                <a:solidFill>
                  <a:srgbClr val="4A5568"/>
                </a:solidFill>
                <a:latin typeface="Calibri" pitchFamily="34" charset="0"/>
              </a:rPr>
              <a:t>Parsimonious feature set maps directly to actionable care interventions at discharge</a:t>
            </a:r>
          </a:p>
        </p:txBody>
      </p:sp>
      <p:sp>
        <p:nvSpPr>
          <p:cNvPr id="63" name="Cit">
            <a:extLst>
              <a:ext uri="{FF2B5EF4-FFF2-40B4-BE49-F238E27FC236}">
                <a16:creationId xmlns:a16="http://schemas.microsoft.com/office/drawing/2014/main" id="{2CCB1FAA-CC29-0770-AB3A-47F8E276A3CF}"/>
              </a:ext>
            </a:extLst>
          </p:cNvPr>
          <p:cNvSpPr/>
          <p:nvPr/>
        </p:nvSpPr>
        <p:spPr>
          <a:xfrm>
            <a:off x="812000" y="6520410"/>
            <a:ext cx="10500000" cy="25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algn="l"/>
            <a:r>
              <a:rPr lang="en-US" sz="1200" b="1" dirty="0">
                <a:latin typeface="Calibri" pitchFamily="34" charset="0"/>
              </a:rPr>
              <a:t>Sources</a:t>
            </a:r>
            <a:r>
              <a:rPr lang="en-US" sz="1200" dirty="0">
                <a:latin typeface="Calibri" pitchFamily="34" charset="0"/>
              </a:rPr>
              <a:t>: van Walraven et al. (CMAJ, 2010); Huang et al. (arXiv, 2020)</a:t>
            </a:r>
          </a:p>
        </p:txBody>
      </p:sp>
    </p:spTree>
    <p:extLst>
      <p:ext uri="{BB962C8B-B14F-4D97-AF65-F5344CB8AC3E}">
        <p14:creationId xmlns:p14="http://schemas.microsoft.com/office/powerpoint/2010/main" val="622627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1A3B6-EEB7-935B-3C13-D532A39C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5685-2B7C-CE59-6277-51594D394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55A63-3A63-FADC-38A4-29C7947C4C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565E8895-F17A-5E92-FC74-69FB8F8262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67E90ED-1776-0DBE-7556-7B47FE4E81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CDB8745-79A4-C205-48E2-3DAE7FDA0526}"/>
              </a:ext>
            </a:extLst>
          </p:cNvPr>
          <p:cNvSpPr txBox="1">
            <a:spLocks/>
          </p:cNvSpPr>
          <p:nvPr/>
        </p:nvSpPr>
        <p:spPr>
          <a:xfrm>
            <a:off x="877527" y="1022335"/>
            <a:ext cx="9761769" cy="1467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SHAP: Top 7 </a:t>
            </a:r>
          </a:p>
          <a:p>
            <a:r>
              <a:rPr lang="en-US" sz="5400" dirty="0">
                <a:solidFill>
                  <a:srgbClr val="091E40"/>
                </a:solidFill>
              </a:rPr>
              <a:t>Feature Explanations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14A81-E777-DFF4-999D-9F29C22E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27</a:t>
            </a:fld>
            <a:endParaRPr lang="en-US" dirty="0"/>
          </a:p>
        </p:txBody>
      </p:sp>
      <p:pic>
        <p:nvPicPr>
          <p:cNvPr id="4" name="Image 0" descr="/sessions/eager-bold-faraday/v17_top5_shap.png">
            <a:extLst>
              <a:ext uri="{FF2B5EF4-FFF2-40B4-BE49-F238E27FC236}">
                <a16:creationId xmlns:a16="http://schemas.microsoft.com/office/drawing/2014/main" id="{BBCCF822-6544-75C0-3FF1-D91DC9D3A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2022" y="2556430"/>
            <a:ext cx="6153629" cy="4027830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DEC7B716-A9DE-E7F8-7FE1-040FD1159703}"/>
              </a:ext>
            </a:extLst>
          </p:cNvPr>
          <p:cNvSpPr/>
          <p:nvPr/>
        </p:nvSpPr>
        <p:spPr>
          <a:xfrm>
            <a:off x="7532851" y="2676045"/>
            <a:ext cx="3291840" cy="393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5C2632C4-1F40-9D6D-9A4E-D6E4652658C0}"/>
              </a:ext>
            </a:extLst>
          </p:cNvPr>
          <p:cNvSpPr/>
          <p:nvPr/>
        </p:nvSpPr>
        <p:spPr>
          <a:xfrm>
            <a:off x="7715731" y="2849781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9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— Clinical Insights</a:t>
            </a:r>
            <a:endParaRPr lang="en-US" dirty="0">
              <a:solidFill>
                <a:srgbClr val="091E40"/>
              </a:solidFill>
            </a:endParaRPr>
          </a:p>
        </p:txBody>
      </p:sp>
      <p:sp>
        <p:nvSpPr>
          <p:cNvPr id="22" name="Bar1">
            <a:extLst>
              <a:ext uri="{FF2B5EF4-FFF2-40B4-BE49-F238E27FC236}">
                <a16:creationId xmlns:a16="http://schemas.microsoft.com/office/drawing/2014/main" id="{1ED82368-DFF8-03DC-F1BC-A39983E2A498}"/>
              </a:ext>
            </a:extLst>
          </p:cNvPr>
          <p:cNvSpPr/>
          <p:nvPr/>
        </p:nvSpPr>
        <p:spPr>
          <a:xfrm>
            <a:off x="7670011" y="3280345"/>
            <a:ext cx="109728" cy="3400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xt1">
            <a:extLst>
              <a:ext uri="{FF2B5EF4-FFF2-40B4-BE49-F238E27FC236}">
                <a16:creationId xmlns:a16="http://schemas.microsoft.com/office/drawing/2014/main" id="{C7887667-CC33-6A07-A870-22EBFBE451D1}"/>
              </a:ext>
            </a:extLst>
          </p:cNvPr>
          <p:cNvSpPr/>
          <p:nvPr/>
        </p:nvSpPr>
        <p:spPr>
          <a:xfrm>
            <a:off x="7898611" y="322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LOS Trend 180d — Rising stay lengths over 6 months are the strongest signal of instability</a:t>
            </a:r>
          </a:p>
        </p:txBody>
      </p:sp>
      <p:sp>
        <p:nvSpPr>
          <p:cNvPr id="24" name="Bar2">
            <a:extLst>
              <a:ext uri="{FF2B5EF4-FFF2-40B4-BE49-F238E27FC236}">
                <a16:creationId xmlns:a16="http://schemas.microsoft.com/office/drawing/2014/main" id="{78ED55E2-6DD8-60D1-E2FC-2132881F3BD5}"/>
              </a:ext>
            </a:extLst>
          </p:cNvPr>
          <p:cNvSpPr/>
          <p:nvPr/>
        </p:nvSpPr>
        <p:spPr>
          <a:xfrm>
            <a:off x="7670011" y="3730345"/>
            <a:ext cx="109728" cy="340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xt2">
            <a:extLst>
              <a:ext uri="{FF2B5EF4-FFF2-40B4-BE49-F238E27FC236}">
                <a16:creationId xmlns:a16="http://schemas.microsoft.com/office/drawing/2014/main" id="{11C1FD85-F401-A230-114D-726C025032AF}"/>
              </a:ext>
            </a:extLst>
          </p:cNvPr>
          <p:cNvSpPr/>
          <p:nvPr/>
        </p:nvSpPr>
        <p:spPr>
          <a:xfrm>
            <a:off x="7898611" y="367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DRG Code — Clinical mix carries enormous predictive power (11–66% readmission range)</a:t>
            </a:r>
          </a:p>
        </p:txBody>
      </p:sp>
      <p:sp>
        <p:nvSpPr>
          <p:cNvPr id="27" name="Bar3">
            <a:extLst>
              <a:ext uri="{FF2B5EF4-FFF2-40B4-BE49-F238E27FC236}">
                <a16:creationId xmlns:a16="http://schemas.microsoft.com/office/drawing/2014/main" id="{6FFD2AE2-CAB9-FE7D-7921-43D39087D7FD}"/>
              </a:ext>
            </a:extLst>
          </p:cNvPr>
          <p:cNvSpPr/>
          <p:nvPr/>
        </p:nvSpPr>
        <p:spPr>
          <a:xfrm>
            <a:off x="7670011" y="4180345"/>
            <a:ext cx="109728" cy="3400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xt3">
            <a:extLst>
              <a:ext uri="{FF2B5EF4-FFF2-40B4-BE49-F238E27FC236}">
                <a16:creationId xmlns:a16="http://schemas.microsoft.com/office/drawing/2014/main" id="{264837E3-5EAF-9125-AD59-8D11BFD53C18}"/>
              </a:ext>
            </a:extLst>
          </p:cNvPr>
          <p:cNvSpPr/>
          <p:nvPr/>
        </p:nvSpPr>
        <p:spPr>
          <a:xfrm>
            <a:off x="7898611" y="412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Late Order Rate — Operational chaos during stay predicts post-discharge failure</a:t>
            </a:r>
          </a:p>
        </p:txBody>
      </p:sp>
      <p:sp>
        <p:nvSpPr>
          <p:cNvPr id="29" name="Bar4">
            <a:extLst>
              <a:ext uri="{FF2B5EF4-FFF2-40B4-BE49-F238E27FC236}">
                <a16:creationId xmlns:a16="http://schemas.microsoft.com/office/drawing/2014/main" id="{991DF582-E185-D78B-4103-122DDA4559E3}"/>
              </a:ext>
            </a:extLst>
          </p:cNvPr>
          <p:cNvSpPr/>
          <p:nvPr/>
        </p:nvSpPr>
        <p:spPr>
          <a:xfrm>
            <a:off x="7670011" y="4630345"/>
            <a:ext cx="109728" cy="34000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xt4">
            <a:extLst>
              <a:ext uri="{FF2B5EF4-FFF2-40B4-BE49-F238E27FC236}">
                <a16:creationId xmlns:a16="http://schemas.microsoft.com/office/drawing/2014/main" id="{2D78C945-B8AB-B6F7-7A9F-06171D7C714C}"/>
              </a:ext>
            </a:extLst>
          </p:cNvPr>
          <p:cNvSpPr/>
          <p:nvPr/>
        </p:nvSpPr>
        <p:spPr>
          <a:xfrm>
            <a:off x="7898611" y="457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Primary Dx Chapter — Disease category shapes baseline risk profile</a:t>
            </a:r>
          </a:p>
        </p:txBody>
      </p:sp>
      <p:sp>
        <p:nvSpPr>
          <p:cNvPr id="31" name="Bar5">
            <a:extLst>
              <a:ext uri="{FF2B5EF4-FFF2-40B4-BE49-F238E27FC236}">
                <a16:creationId xmlns:a16="http://schemas.microsoft.com/office/drawing/2014/main" id="{2435675C-D63B-1609-4662-E694894214F2}"/>
              </a:ext>
            </a:extLst>
          </p:cNvPr>
          <p:cNvSpPr/>
          <p:nvPr/>
        </p:nvSpPr>
        <p:spPr>
          <a:xfrm>
            <a:off x="7670011" y="5080345"/>
            <a:ext cx="109728" cy="340000"/>
          </a:xfrm>
          <a:prstGeom prst="rect">
            <a:avLst/>
          </a:prstGeom>
          <a:solidFill>
            <a:srgbClr val="E863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xt5">
            <a:extLst>
              <a:ext uri="{FF2B5EF4-FFF2-40B4-BE49-F238E27FC236}">
                <a16:creationId xmlns:a16="http://schemas.microsoft.com/office/drawing/2014/main" id="{70F0525C-DBE6-2EE1-89A7-8371830B22F7}"/>
              </a:ext>
            </a:extLst>
          </p:cNvPr>
          <p:cNvSpPr/>
          <p:nvPr/>
        </p:nvSpPr>
        <p:spPr>
          <a:xfrm>
            <a:off x="7898611" y="502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Prior Admits 6m² — Acceleration in utilization compounds risk non-linearly</a:t>
            </a:r>
          </a:p>
        </p:txBody>
      </p:sp>
      <p:sp>
        <p:nvSpPr>
          <p:cNvPr id="33" name="Bar6">
            <a:extLst>
              <a:ext uri="{FF2B5EF4-FFF2-40B4-BE49-F238E27FC236}">
                <a16:creationId xmlns:a16="http://schemas.microsoft.com/office/drawing/2014/main" id="{B2FE93A5-AD5D-358D-B1C9-E32F4F1C3FB7}"/>
              </a:ext>
            </a:extLst>
          </p:cNvPr>
          <p:cNvSpPr/>
          <p:nvPr/>
        </p:nvSpPr>
        <p:spPr>
          <a:xfrm>
            <a:off x="7670011" y="5530345"/>
            <a:ext cx="109728" cy="340000"/>
          </a:xfrm>
          <a:prstGeom prst="rect">
            <a:avLst/>
          </a:prstGeom>
          <a:solidFill>
            <a:srgbClr val="C06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xt6">
            <a:extLst>
              <a:ext uri="{FF2B5EF4-FFF2-40B4-BE49-F238E27FC236}">
                <a16:creationId xmlns:a16="http://schemas.microsoft.com/office/drawing/2014/main" id="{2691C1FF-0E2D-9AE5-620D-E3A5E70CD54C}"/>
              </a:ext>
            </a:extLst>
          </p:cNvPr>
          <p:cNvSpPr/>
          <p:nvPr/>
        </p:nvSpPr>
        <p:spPr>
          <a:xfrm>
            <a:off x="7898611" y="547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Last DRG + Disposition — Prior discharge pathway predicts future readmission patterns</a:t>
            </a:r>
          </a:p>
        </p:txBody>
      </p:sp>
      <p:sp>
        <p:nvSpPr>
          <p:cNvPr id="35" name="Bar7">
            <a:extLst>
              <a:ext uri="{FF2B5EF4-FFF2-40B4-BE49-F238E27FC236}">
                <a16:creationId xmlns:a16="http://schemas.microsoft.com/office/drawing/2014/main" id="{79D672BF-B642-CB2D-3002-09E0C3D0A2C9}"/>
              </a:ext>
            </a:extLst>
          </p:cNvPr>
          <p:cNvSpPr/>
          <p:nvPr/>
        </p:nvSpPr>
        <p:spPr>
          <a:xfrm>
            <a:off x="7670011" y="5980345"/>
            <a:ext cx="109728" cy="34000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xt7">
            <a:extLst>
              <a:ext uri="{FF2B5EF4-FFF2-40B4-BE49-F238E27FC236}">
                <a16:creationId xmlns:a16="http://schemas.microsoft.com/office/drawing/2014/main" id="{00A18FE5-D12D-21B7-8F09-1F86819BBD03}"/>
              </a:ext>
            </a:extLst>
          </p:cNvPr>
          <p:cNvSpPr/>
          <p:nvPr/>
        </p:nvSpPr>
        <p:spPr>
          <a:xfrm>
            <a:off x="7898611" y="5920345"/>
            <a:ext cx="2697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</a:rPr>
              <a:t>Discharge Location — Where patients go after discharge directly impacts readmission risk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B175B1-F3F7-A874-2094-E8E96EC4C4BD}"/>
              </a:ext>
            </a:extLst>
          </p:cNvPr>
          <p:cNvSpPr txBox="1"/>
          <p:nvPr/>
        </p:nvSpPr>
        <p:spPr>
          <a:xfrm>
            <a:off x="1277763" y="6628375"/>
            <a:ext cx="8961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SHAP:</a:t>
            </a:r>
            <a:r>
              <a:rPr lang="en-US" sz="1000" dirty="0"/>
              <a:t> </a:t>
            </a:r>
            <a:r>
              <a:rPr lang="en-US" sz="1000" dirty="0" err="1"/>
              <a:t>SHapley</a:t>
            </a:r>
            <a:r>
              <a:rPr lang="en-US" sz="1000" dirty="0"/>
              <a:t> Additive </a:t>
            </a:r>
            <a:r>
              <a:rPr lang="en-US" sz="1000" dirty="0" err="1"/>
              <a:t>exPlanations</a:t>
            </a:r>
            <a:r>
              <a:rPr lang="en-US" sz="1000" dirty="0"/>
              <a:t>. | </a:t>
            </a:r>
            <a:r>
              <a:rPr lang="en-US" sz="1000" b="1" dirty="0"/>
              <a:t>LOS:</a:t>
            </a:r>
            <a:r>
              <a:rPr lang="en-US" sz="1000" dirty="0"/>
              <a:t> Length of Stay. | </a:t>
            </a:r>
            <a:r>
              <a:rPr lang="en-US" sz="1000" b="1" dirty="0"/>
              <a:t>DRG:</a:t>
            </a:r>
            <a:r>
              <a:rPr lang="en-US" sz="1000" dirty="0"/>
              <a:t> Diagnosis-Related Group. | </a:t>
            </a:r>
            <a:r>
              <a:rPr lang="en-US" sz="1000" b="1" dirty="0"/>
              <a:t>Dx:</a:t>
            </a:r>
            <a:r>
              <a:rPr lang="en-US" sz="1000" dirty="0"/>
              <a:t> Diagnosis. | </a:t>
            </a:r>
            <a:r>
              <a:rPr lang="en-US" sz="1000" b="1" dirty="0"/>
              <a:t>TE:</a:t>
            </a:r>
            <a:r>
              <a:rPr lang="en-US" sz="1000" dirty="0"/>
              <a:t> Target Encoding.</a:t>
            </a:r>
          </a:p>
        </p:txBody>
      </p:sp>
    </p:spTree>
    <p:extLst>
      <p:ext uri="{BB962C8B-B14F-4D97-AF65-F5344CB8AC3E}">
        <p14:creationId xmlns:p14="http://schemas.microsoft.com/office/powerpoint/2010/main" val="179445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7884B-F0C5-C443-593E-CA640022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5159-1FC7-BCE5-5139-021A86D58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FE513-4E08-07D5-986C-2E77649362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21C63600-5BDE-F917-E07E-1068BC85A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A82B420-B3D8-5CA2-E291-E899D55FD6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56688D-0D53-DB15-1EF5-C4ED899049C8}"/>
              </a:ext>
            </a:extLst>
          </p:cNvPr>
          <p:cNvSpPr txBox="1">
            <a:spLocks/>
          </p:cNvSpPr>
          <p:nvPr/>
        </p:nvSpPr>
        <p:spPr>
          <a:xfrm>
            <a:off x="1030384" y="1180841"/>
            <a:ext cx="9761769" cy="1467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91E40"/>
                </a:solidFill>
              </a:rPr>
              <a:t>Answering the Research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580660-89D7-6027-84FC-C0A6A6E3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2454D2-7EB0-B01B-9E99-65611CEDF2B6}"/>
              </a:ext>
            </a:extLst>
          </p:cNvPr>
          <p:cNvSpPr/>
          <p:nvPr/>
        </p:nvSpPr>
        <p:spPr>
          <a:xfrm>
            <a:off x="1747126" y="2736436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6B2FAE73-482C-9D73-7924-F638CE167CC8}"/>
              </a:ext>
            </a:extLst>
          </p:cNvPr>
          <p:cNvSpPr/>
          <p:nvPr/>
        </p:nvSpPr>
        <p:spPr>
          <a:xfrm>
            <a:off x="1747126" y="2736436"/>
            <a:ext cx="64008" cy="10972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387D501-338E-A420-AB82-F54823947DFC}"/>
              </a:ext>
            </a:extLst>
          </p:cNvPr>
          <p:cNvSpPr/>
          <p:nvPr/>
        </p:nvSpPr>
        <p:spPr>
          <a:xfrm>
            <a:off x="2021446" y="2873596"/>
            <a:ext cx="548640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31A0C2B-002F-4071-702E-C96824610A07}"/>
              </a:ext>
            </a:extLst>
          </p:cNvPr>
          <p:cNvSpPr/>
          <p:nvPr/>
        </p:nvSpPr>
        <p:spPr>
          <a:xfrm>
            <a:off x="2021446" y="287359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23FB86FF-30B4-FBAC-1059-91F4575AF2B0}"/>
              </a:ext>
            </a:extLst>
          </p:cNvPr>
          <p:cNvSpPr/>
          <p:nvPr/>
        </p:nvSpPr>
        <p:spPr>
          <a:xfrm>
            <a:off x="2752966" y="28278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Predictive Features</a:t>
            </a:r>
            <a:endParaRPr lang="en-US" sz="1600" dirty="0">
              <a:solidFill>
                <a:srgbClr val="B6862C"/>
              </a:solidFill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86FCC419-D8BD-BB6B-D208-8DF25850118F}"/>
              </a:ext>
            </a:extLst>
          </p:cNvPr>
          <p:cNvSpPr/>
          <p:nvPr/>
        </p:nvSpPr>
        <p:spPr>
          <a:xfrm>
            <a:off x="2752966" y="3193636"/>
            <a:ext cx="63166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trend (180d), DRG code, discharge location, prior admission history, and clinical interactions are the top predictors. A core set of 50 features captures 99.4% of predictive performance.</a:t>
            </a:r>
            <a:endParaRPr lang="en-US" sz="14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049EB2BE-AD77-4612-CA4F-F12080A27069}"/>
              </a:ext>
            </a:extLst>
          </p:cNvPr>
          <p:cNvSpPr/>
          <p:nvPr/>
        </p:nvSpPr>
        <p:spPr>
          <a:xfrm>
            <a:off x="1752453" y="4016596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F499E8D5-19C1-6505-D5F7-82C3DDCBC5EC}"/>
              </a:ext>
            </a:extLst>
          </p:cNvPr>
          <p:cNvSpPr/>
          <p:nvPr/>
        </p:nvSpPr>
        <p:spPr>
          <a:xfrm>
            <a:off x="1747126" y="4016596"/>
            <a:ext cx="64008" cy="10972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2003308A-0FAD-30D4-B115-1747EEE1C0D5}"/>
              </a:ext>
            </a:extLst>
          </p:cNvPr>
          <p:cNvSpPr/>
          <p:nvPr/>
        </p:nvSpPr>
        <p:spPr>
          <a:xfrm>
            <a:off x="2021446" y="4153756"/>
            <a:ext cx="548640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B3B394E-8DA1-2737-852B-BA9DE6907511}"/>
              </a:ext>
            </a:extLst>
          </p:cNvPr>
          <p:cNvSpPr/>
          <p:nvPr/>
        </p:nvSpPr>
        <p:spPr>
          <a:xfrm>
            <a:off x="2021446" y="41537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AAEA2F2-4045-3763-9B20-9567731D7E85}"/>
              </a:ext>
            </a:extLst>
          </p:cNvPr>
          <p:cNvSpPr/>
          <p:nvPr/>
        </p:nvSpPr>
        <p:spPr>
          <a:xfrm>
            <a:off x="2752966" y="41080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Modeling Approach</a:t>
            </a:r>
            <a:endParaRPr lang="en-US" sz="1600" dirty="0">
              <a:solidFill>
                <a:srgbClr val="B6862C"/>
              </a:solidFill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A15686D3-E16C-5DB9-268B-74EB722F319C}"/>
              </a:ext>
            </a:extLst>
          </p:cNvPr>
          <p:cNvSpPr/>
          <p:nvPr/>
        </p:nvSpPr>
        <p:spPr>
          <a:xfrm>
            <a:off x="2752965" y="4473796"/>
            <a:ext cx="66887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(AUROC: 0.793) was selected over the top-performing blended ensemble (0.795), as the negligible 0.002 difference does not justify the added complexity and XGBoost preserves full feature interpretability for actionable insights.</a:t>
            </a: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467DBD9-6AB1-C0F1-E18F-5953AF65C991}"/>
              </a:ext>
            </a:extLst>
          </p:cNvPr>
          <p:cNvSpPr/>
          <p:nvPr/>
        </p:nvSpPr>
        <p:spPr>
          <a:xfrm>
            <a:off x="1747126" y="5296756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6E5D56B6-0E9B-A3B1-EAC1-DAE55038DA72}"/>
              </a:ext>
            </a:extLst>
          </p:cNvPr>
          <p:cNvSpPr/>
          <p:nvPr/>
        </p:nvSpPr>
        <p:spPr>
          <a:xfrm>
            <a:off x="1747126" y="5296756"/>
            <a:ext cx="64008" cy="10972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1D2DA1F6-1AE4-B275-7ACD-1E2EB9D605BF}"/>
              </a:ext>
            </a:extLst>
          </p:cNvPr>
          <p:cNvSpPr/>
          <p:nvPr/>
        </p:nvSpPr>
        <p:spPr>
          <a:xfrm>
            <a:off x="2021446" y="5433916"/>
            <a:ext cx="548640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1CCEA2F3-CBA3-1E6B-BE3F-0F592C11249C}"/>
              </a:ext>
            </a:extLst>
          </p:cNvPr>
          <p:cNvSpPr/>
          <p:nvPr/>
        </p:nvSpPr>
        <p:spPr>
          <a:xfrm>
            <a:off x="2021446" y="54339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F0B559D7-BBB3-68EB-BB70-CDFBCE034B46}"/>
              </a:ext>
            </a:extLst>
          </p:cNvPr>
          <p:cNvSpPr/>
          <p:nvPr/>
        </p:nvSpPr>
        <p:spPr>
          <a:xfrm>
            <a:off x="2752966" y="53881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SHAP Insights</a:t>
            </a:r>
            <a:endParaRPr lang="en-US" sz="1600" dirty="0">
              <a:solidFill>
                <a:srgbClr val="B6862C"/>
              </a:solidFill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B13F6EA8-DF5E-E80A-C570-1013CF179117}"/>
              </a:ext>
            </a:extLst>
          </p:cNvPr>
          <p:cNvSpPr/>
          <p:nvPr/>
        </p:nvSpPr>
        <p:spPr>
          <a:xfrm>
            <a:off x="2752966" y="575395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provides patient-level explanations: providers see which factors drive each individual's risk. Key: LOS monitoring, medication reconciliation, early follow-up for frequent admitters.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28562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D5314-5EC5-43F3-CBD5-788BE796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0861-EA6F-33E9-4D50-590EA5FEB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8CB0B-9B82-5C29-0718-8668175335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433A4BF9-210F-1700-3FA7-5ED8317BAC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AA916E6-1BD5-A435-6317-F5FC4153EF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18682B7-C6FF-836B-28E1-52D027CD31CB}"/>
              </a:ext>
            </a:extLst>
          </p:cNvPr>
          <p:cNvSpPr txBox="1">
            <a:spLocks/>
          </p:cNvSpPr>
          <p:nvPr/>
        </p:nvSpPr>
        <p:spPr>
          <a:xfrm>
            <a:off x="1282438" y="967037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43884-14E3-803E-6A63-2EF64CFC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29</a:t>
            </a:fld>
            <a:endParaRPr lang="en-US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C1AE65A-7E8A-1E8A-0BA9-46A87027DB51}"/>
              </a:ext>
            </a:extLst>
          </p:cNvPr>
          <p:cNvSpPr/>
          <p:nvPr/>
        </p:nvSpPr>
        <p:spPr>
          <a:xfrm>
            <a:off x="2329500" y="2186159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023BA7-6A06-97BE-0BFB-8A0C35DBF24D}"/>
              </a:ext>
            </a:extLst>
          </p:cNvPr>
          <p:cNvSpPr/>
          <p:nvPr/>
        </p:nvSpPr>
        <p:spPr>
          <a:xfrm>
            <a:off x="2329500" y="2186159"/>
            <a:ext cx="64008" cy="6858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2AB4EA6-1EFC-4F0D-78E2-AD14FC744344}"/>
              </a:ext>
            </a:extLst>
          </p:cNvPr>
          <p:cNvSpPr/>
          <p:nvPr/>
        </p:nvSpPr>
        <p:spPr>
          <a:xfrm>
            <a:off x="2603820" y="223187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Hospital System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406F145-45D9-DD8E-F9AA-6C44C4654148}"/>
              </a:ext>
            </a:extLst>
          </p:cNvPr>
          <p:cNvSpPr/>
          <p:nvPr/>
        </p:nvSpPr>
        <p:spPr>
          <a:xfrm>
            <a:off x="2603820" y="2506199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Beth Israel Deaconess (Boston) only, which may limit generalizability to other hospitals, regions, or populations.</a:t>
            </a:r>
            <a:endParaRPr lang="en-US" sz="14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04C720FE-F780-2982-78C4-7F41DC41DED6}"/>
              </a:ext>
            </a:extLst>
          </p:cNvPr>
          <p:cNvSpPr/>
          <p:nvPr/>
        </p:nvSpPr>
        <p:spPr>
          <a:xfrm>
            <a:off x="2329500" y="2990831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AB2652D-D387-2D6D-CAE9-000F3111C123}"/>
              </a:ext>
            </a:extLst>
          </p:cNvPr>
          <p:cNvSpPr/>
          <p:nvPr/>
        </p:nvSpPr>
        <p:spPr>
          <a:xfrm>
            <a:off x="2329500" y="2990831"/>
            <a:ext cx="64008" cy="6858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E3F1A18-4F1D-7ABF-1DD5-473771310ECF}"/>
              </a:ext>
            </a:extLst>
          </p:cNvPr>
          <p:cNvSpPr/>
          <p:nvPr/>
        </p:nvSpPr>
        <p:spPr>
          <a:xfrm>
            <a:off x="2603820" y="303655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Unstructured Clinical Notes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59AEDF6-3914-54F8-654A-272727FC19F5}"/>
              </a:ext>
            </a:extLst>
          </p:cNvPr>
          <p:cNvSpPr/>
          <p:nvPr/>
        </p:nvSpPr>
        <p:spPr>
          <a:xfrm>
            <a:off x="2603820" y="3310871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notes, discharge summaries, and radiology reports were not used. NLP-based features could improve predictions.</a:t>
            </a:r>
            <a:endParaRPr lang="en-US" sz="14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07483EC-3333-1C64-8631-A2D06F8D4ABB}"/>
              </a:ext>
            </a:extLst>
          </p:cNvPr>
          <p:cNvSpPr/>
          <p:nvPr/>
        </p:nvSpPr>
        <p:spPr>
          <a:xfrm>
            <a:off x="2329500" y="3795503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F2A0CA3-E595-92DE-3B37-92959A83210D}"/>
              </a:ext>
            </a:extLst>
          </p:cNvPr>
          <p:cNvSpPr/>
          <p:nvPr/>
        </p:nvSpPr>
        <p:spPr>
          <a:xfrm>
            <a:off x="2329500" y="3795503"/>
            <a:ext cx="64008" cy="6858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842FA2D-3499-BFB5-5FAC-28D1B00EB3EB}"/>
              </a:ext>
            </a:extLst>
          </p:cNvPr>
          <p:cNvSpPr/>
          <p:nvPr/>
        </p:nvSpPr>
        <p:spPr>
          <a:xfrm>
            <a:off x="2603820" y="384122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Determinants of Health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530D6FF-9CC3-3550-A7D9-CFA089490106}"/>
              </a:ext>
            </a:extLst>
          </p:cNvPr>
          <p:cNvSpPr/>
          <p:nvPr/>
        </p:nvSpPr>
        <p:spPr>
          <a:xfrm>
            <a:off x="2603820" y="4115543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stability, social support, health literacy, and transportation are known risk factors but unavailable in MIMIC-IV.</a:t>
            </a:r>
            <a:endParaRPr lang="en-US" sz="14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89FCB818-0F93-471D-656E-ACD6D1C92FB3}"/>
              </a:ext>
            </a:extLst>
          </p:cNvPr>
          <p:cNvSpPr/>
          <p:nvPr/>
        </p:nvSpPr>
        <p:spPr>
          <a:xfrm>
            <a:off x="2329500" y="4600175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E17BCE1-D480-D15E-8109-8EFFCE90C512}"/>
              </a:ext>
            </a:extLst>
          </p:cNvPr>
          <p:cNvSpPr/>
          <p:nvPr/>
        </p:nvSpPr>
        <p:spPr>
          <a:xfrm>
            <a:off x="2329500" y="4600175"/>
            <a:ext cx="64008" cy="6858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39BC9A58-6F4A-154B-B611-857759EB61E4}"/>
              </a:ext>
            </a:extLst>
          </p:cNvPr>
          <p:cNvSpPr/>
          <p:nvPr/>
        </p:nvSpPr>
        <p:spPr>
          <a:xfrm>
            <a:off x="2603820" y="464589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3CD86CE-56C7-CA06-1E87-130BD27DF22B}"/>
              </a:ext>
            </a:extLst>
          </p:cNvPr>
          <p:cNvSpPr/>
          <p:nvPr/>
        </p:nvSpPr>
        <p:spPr>
          <a:xfrm>
            <a:off x="2603820" y="4920215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features beyond the core clinical set yielded only marginal improvement, suggesting a ceiling with available structured data.</a:t>
            </a:r>
            <a:endParaRPr lang="en-US" sz="14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B4B9547A-4345-1B0F-939E-F4C62680B961}"/>
              </a:ext>
            </a:extLst>
          </p:cNvPr>
          <p:cNvSpPr/>
          <p:nvPr/>
        </p:nvSpPr>
        <p:spPr>
          <a:xfrm>
            <a:off x="2329500" y="5404847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9A57BC44-B7D7-72BB-1689-0A495E7DBF6A}"/>
              </a:ext>
            </a:extLst>
          </p:cNvPr>
          <p:cNvSpPr/>
          <p:nvPr/>
        </p:nvSpPr>
        <p:spPr>
          <a:xfrm>
            <a:off x="2329500" y="5404847"/>
            <a:ext cx="64008" cy="6858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67D14AFB-A7E5-70B4-60B6-A48779BA8D9A}"/>
              </a:ext>
            </a:extLst>
          </p:cNvPr>
          <p:cNvSpPr/>
          <p:nvPr/>
        </p:nvSpPr>
        <p:spPr>
          <a:xfrm>
            <a:off x="2603820" y="545056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Limitation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D12B393F-2D48-9401-3343-AAA993FD5E08}"/>
              </a:ext>
            </a:extLst>
          </p:cNvPr>
          <p:cNvSpPr/>
          <p:nvPr/>
        </p:nvSpPr>
        <p:spPr>
          <a:xfrm>
            <a:off x="2603820" y="5724887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readmissions occurring at different hospitals are not captured in MIMIC-IV.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8995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67D81-F7E7-7B0C-6B72-A20A2A96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FB85-4B36-12FC-32EA-167508403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13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DE1D4-ADEF-0520-7162-1889184BA0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F197625B-B6E3-EF3C-344D-0D000B90D7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70A7CCB-ABDD-0493-36D4-CA31E7C807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0417" y="812979"/>
            <a:ext cx="3724767" cy="4195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3EAB035-BC9F-25A5-7CDD-B20D731C1916}"/>
              </a:ext>
            </a:extLst>
          </p:cNvPr>
          <p:cNvSpPr txBox="1">
            <a:spLocks/>
          </p:cNvSpPr>
          <p:nvPr/>
        </p:nvSpPr>
        <p:spPr>
          <a:xfrm>
            <a:off x="1131518" y="1030923"/>
            <a:ext cx="9144000" cy="1019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91E40"/>
                </a:solidFill>
              </a:rPr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02260-F7F4-7786-EF70-80D34158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30</a:t>
            </a:fld>
            <a:endParaRPr lang="en-US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34DCAD4-CBF7-B866-5604-BDB95B27A36C}"/>
              </a:ext>
            </a:extLst>
          </p:cNvPr>
          <p:cNvSpPr/>
          <p:nvPr/>
        </p:nvSpPr>
        <p:spPr>
          <a:xfrm>
            <a:off x="2048966" y="2261605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2E64626-9022-424B-0D5A-4391846923CE}"/>
              </a:ext>
            </a:extLst>
          </p:cNvPr>
          <p:cNvSpPr/>
          <p:nvPr/>
        </p:nvSpPr>
        <p:spPr>
          <a:xfrm>
            <a:off x="2048966" y="2261605"/>
            <a:ext cx="64008" cy="1051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7F6FA70-8F71-8C3A-DE33-E93020143DCC}"/>
              </a:ext>
            </a:extLst>
          </p:cNvPr>
          <p:cNvSpPr/>
          <p:nvPr/>
        </p:nvSpPr>
        <p:spPr>
          <a:xfrm>
            <a:off x="2231846" y="235304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3E8D164-5214-0A68-05CE-24789859E50F}"/>
              </a:ext>
            </a:extLst>
          </p:cNvPr>
          <p:cNvSpPr/>
          <p:nvPr/>
        </p:nvSpPr>
        <p:spPr>
          <a:xfrm>
            <a:off x="2231846" y="2718805"/>
            <a:ext cx="3647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data from other hospital systems to assess generalizability.</a:t>
            </a:r>
            <a:endParaRPr lang="en-US" sz="14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497FAA18-1935-E932-8CC1-1BD5C89FB7BA}"/>
              </a:ext>
            </a:extLst>
          </p:cNvPr>
          <p:cNvSpPr/>
          <p:nvPr/>
        </p:nvSpPr>
        <p:spPr>
          <a:xfrm>
            <a:off x="6255206" y="2261605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922E291-1327-48D5-0FDD-3C8D4B20EF16}"/>
              </a:ext>
            </a:extLst>
          </p:cNvPr>
          <p:cNvSpPr/>
          <p:nvPr/>
        </p:nvSpPr>
        <p:spPr>
          <a:xfrm>
            <a:off x="6255206" y="2261605"/>
            <a:ext cx="64008" cy="1051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7DE200-D1DE-6F5B-8A23-FAF4E4ED7810}"/>
              </a:ext>
            </a:extLst>
          </p:cNvPr>
          <p:cNvSpPr/>
          <p:nvPr/>
        </p:nvSpPr>
        <p:spPr>
          <a:xfrm>
            <a:off x="6438086" y="235304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Integration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377D783-CF54-D419-DB66-47C2D687ABFB}"/>
              </a:ext>
            </a:extLst>
          </p:cNvPr>
          <p:cNvSpPr/>
          <p:nvPr/>
        </p:nvSpPr>
        <p:spPr>
          <a:xfrm>
            <a:off x="6438086" y="2718805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unstructured clinical notes using text mining for richer patient context.</a:t>
            </a:r>
            <a:endParaRPr lang="en-US" sz="14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DAF3081-C765-F1A1-5233-5C6D964EA660}"/>
              </a:ext>
            </a:extLst>
          </p:cNvPr>
          <p:cNvSpPr/>
          <p:nvPr/>
        </p:nvSpPr>
        <p:spPr>
          <a:xfrm>
            <a:off x="2048966" y="3496045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1273A4F9-1E04-AABB-F46E-4F2554FBC858}"/>
              </a:ext>
            </a:extLst>
          </p:cNvPr>
          <p:cNvSpPr/>
          <p:nvPr/>
        </p:nvSpPr>
        <p:spPr>
          <a:xfrm>
            <a:off x="2048966" y="3496045"/>
            <a:ext cx="64008" cy="1051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3966C8D4-92C1-701E-27F7-822BDE45B981}"/>
              </a:ext>
            </a:extLst>
          </p:cNvPr>
          <p:cNvSpPr/>
          <p:nvPr/>
        </p:nvSpPr>
        <p:spPr>
          <a:xfrm>
            <a:off x="2231846" y="358748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A5792D8-C0BF-A6CF-9459-EFC190E3A277}"/>
              </a:ext>
            </a:extLst>
          </p:cNvPr>
          <p:cNvSpPr/>
          <p:nvPr/>
        </p:nvSpPr>
        <p:spPr>
          <a:xfrm>
            <a:off x="2231846" y="3953245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API/dashboard for real-time risk scoring within EHR workflows at discharge.</a:t>
            </a:r>
            <a:endParaRPr lang="en-US" sz="14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1A7964C-9C50-4B41-483D-7E26CBE2628E}"/>
              </a:ext>
            </a:extLst>
          </p:cNvPr>
          <p:cNvSpPr/>
          <p:nvPr/>
        </p:nvSpPr>
        <p:spPr>
          <a:xfrm>
            <a:off x="6255206" y="3496045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52517205-59B3-E2B3-5A1B-29D7A9A63DBB}"/>
              </a:ext>
            </a:extLst>
          </p:cNvPr>
          <p:cNvSpPr/>
          <p:nvPr/>
        </p:nvSpPr>
        <p:spPr>
          <a:xfrm>
            <a:off x="6255206" y="3496045"/>
            <a:ext cx="64008" cy="1051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CD309329-2138-460B-6389-1AFDFC4DD87C}"/>
              </a:ext>
            </a:extLst>
          </p:cNvPr>
          <p:cNvSpPr/>
          <p:nvPr/>
        </p:nvSpPr>
        <p:spPr>
          <a:xfrm>
            <a:off x="6438086" y="358748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Analysis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6F3D4610-2F0A-E761-BC99-9733E887F725}"/>
              </a:ext>
            </a:extLst>
          </p:cNvPr>
          <p:cNvSpPr/>
          <p:nvPr/>
        </p:nvSpPr>
        <p:spPr>
          <a:xfrm>
            <a:off x="6438086" y="3953245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across demographic subgroups to identify and mitigate biases.</a:t>
            </a:r>
            <a:endParaRPr lang="en-US" sz="140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91AEC47F-C0E3-D217-73D0-E411584F4355}"/>
              </a:ext>
            </a:extLst>
          </p:cNvPr>
          <p:cNvSpPr/>
          <p:nvPr/>
        </p:nvSpPr>
        <p:spPr>
          <a:xfrm>
            <a:off x="2048966" y="4730485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D961CE5E-17F5-D1F3-5B76-1306490EBEB1}"/>
              </a:ext>
            </a:extLst>
          </p:cNvPr>
          <p:cNvSpPr/>
          <p:nvPr/>
        </p:nvSpPr>
        <p:spPr>
          <a:xfrm>
            <a:off x="2048966" y="4730485"/>
            <a:ext cx="64008" cy="1051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D34A931-E02B-6AE1-8C37-770CFAF7C51E}"/>
              </a:ext>
            </a:extLst>
          </p:cNvPr>
          <p:cNvSpPr/>
          <p:nvPr/>
        </p:nvSpPr>
        <p:spPr>
          <a:xfrm>
            <a:off x="2231846" y="482192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56791918-35D4-0A34-D2F4-A3D70B3A3598}"/>
              </a:ext>
            </a:extLst>
          </p:cNvPr>
          <p:cNvSpPr/>
          <p:nvPr/>
        </p:nvSpPr>
        <p:spPr>
          <a:xfrm>
            <a:off x="2231846" y="5187685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prediction to identify causal factors enabling more effective interventions.</a:t>
            </a:r>
            <a:endParaRPr lang="en-US" sz="14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C86A48DB-01C7-11ED-4C09-793151425BE3}"/>
              </a:ext>
            </a:extLst>
          </p:cNvPr>
          <p:cNvSpPr/>
          <p:nvPr/>
        </p:nvSpPr>
        <p:spPr>
          <a:xfrm>
            <a:off x="6255206" y="4730485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E58B990A-FA6F-A571-A4AC-5B435E65BBAE}"/>
              </a:ext>
            </a:extLst>
          </p:cNvPr>
          <p:cNvSpPr/>
          <p:nvPr/>
        </p:nvSpPr>
        <p:spPr>
          <a:xfrm>
            <a:off x="6255206" y="4730485"/>
            <a:ext cx="64008" cy="1051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0E977C12-CF97-0F80-088A-3FED9DC909B6}"/>
              </a:ext>
            </a:extLst>
          </p:cNvPr>
          <p:cNvSpPr/>
          <p:nvPr/>
        </p:nvSpPr>
        <p:spPr>
          <a:xfrm>
            <a:off x="6438086" y="482192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6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</a:t>
            </a:r>
            <a:endParaRPr lang="en-US" sz="1400" dirty="0">
              <a:solidFill>
                <a:srgbClr val="B6862C"/>
              </a:solidFill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B2E9501B-B761-0AE4-FC2D-31572D16B536}"/>
              </a:ext>
            </a:extLst>
          </p:cNvPr>
          <p:cNvSpPr/>
          <p:nvPr/>
        </p:nvSpPr>
        <p:spPr>
          <a:xfrm>
            <a:off x="6438086" y="5187685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economic impact of implementing the prediction model in hospital operations.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0867E-2BD6-BB3C-B876-CAFA6D414112}"/>
              </a:ext>
            </a:extLst>
          </p:cNvPr>
          <p:cNvSpPr txBox="1"/>
          <p:nvPr/>
        </p:nvSpPr>
        <p:spPr>
          <a:xfrm>
            <a:off x="1941842" y="6594517"/>
            <a:ext cx="1025015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NLP:</a:t>
            </a:r>
            <a:r>
              <a:rPr lang="en-US" sz="1050" dirty="0"/>
              <a:t> Natural Language Processing (analyzing clinical text). | </a:t>
            </a:r>
            <a:r>
              <a:rPr lang="en-US" sz="1050" b="1" dirty="0"/>
              <a:t>API:</a:t>
            </a:r>
            <a:r>
              <a:rPr lang="en-US" sz="1050" dirty="0"/>
              <a:t> Interface that connects systems. | </a:t>
            </a:r>
            <a:r>
              <a:rPr lang="en-US" sz="1050" b="1" dirty="0"/>
              <a:t>EHR:</a:t>
            </a:r>
            <a:r>
              <a:rPr lang="en-US" sz="1050" dirty="0"/>
              <a:t> Electronic Health Record</a:t>
            </a:r>
          </a:p>
        </p:txBody>
      </p:sp>
    </p:spTree>
    <p:extLst>
      <p:ext uri="{BB962C8B-B14F-4D97-AF65-F5344CB8AC3E}">
        <p14:creationId xmlns:p14="http://schemas.microsoft.com/office/powerpoint/2010/main" val="582113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CADB4-08DB-D2EF-881A-17BD54AA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3E59-2AB3-8574-661B-887A88939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8176A-5961-C12C-163A-83FB6933B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F1102-824D-EAB7-90A5-1A1E0E813C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8" y="415718"/>
            <a:ext cx="43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 dirty="0">
                <a:solidFill>
                  <a:srgbClr val="081E3F"/>
                </a:solidFill>
              </a:rPr>
              <a:t>FLORIDA INTERNATIONAL UNIVERSITY</a:t>
            </a:r>
          </a:p>
        </p:txBody>
      </p:sp>
      <p:pic>
        <p:nvPicPr>
          <p:cNvPr id="26" name="Picture 25" descr="A blue and gold lettered logo&#10;&#10;Description automatically generated">
            <a:extLst>
              <a:ext uri="{FF2B5EF4-FFF2-40B4-BE49-F238E27FC236}">
                <a16:creationId xmlns:a16="http://schemas.microsoft.com/office/drawing/2014/main" id="{E3DB430E-1F97-1090-A28C-F610C26037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55" y="554217"/>
            <a:ext cx="1538967" cy="712737"/>
          </a:xfrm>
          <a:prstGeom prst="rect">
            <a:avLst/>
          </a:prstGeom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F66A5852-31C5-82CC-3A2D-39A01E0615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3570" y="1121222"/>
            <a:ext cx="10224858" cy="5182560"/>
          </a:xfrm>
          <a:custGeom>
            <a:avLst/>
            <a:gdLst>
              <a:gd name="connsiteX0" fmla="*/ 1 w 10224858"/>
              <a:gd name="connsiteY0" fmla="*/ 370502 h 5182560"/>
              <a:gd name="connsiteX1" fmla="*/ 10224858 w 10224858"/>
              <a:gd name="connsiteY1" fmla="*/ 370502 h 5182560"/>
              <a:gd name="connsiteX2" fmla="*/ 10224858 w 10224858"/>
              <a:gd name="connsiteY2" fmla="*/ 1655762 h 5182560"/>
              <a:gd name="connsiteX3" fmla="*/ 10224856 w 10224858"/>
              <a:gd name="connsiteY3" fmla="*/ 1655762 h 5182560"/>
              <a:gd name="connsiteX4" fmla="*/ 10224856 w 10224858"/>
              <a:gd name="connsiteY4" fmla="*/ 5182560 h 5182560"/>
              <a:gd name="connsiteX5" fmla="*/ 265365 w 10224858"/>
              <a:gd name="connsiteY5" fmla="*/ 5182560 h 5182560"/>
              <a:gd name="connsiteX6" fmla="*/ 265365 w 10224858"/>
              <a:gd name="connsiteY6" fmla="*/ 4521295 h 5182560"/>
              <a:gd name="connsiteX7" fmla="*/ 0 w 10224858"/>
              <a:gd name="connsiteY7" fmla="*/ 4521295 h 5182560"/>
              <a:gd name="connsiteX8" fmla="*/ 0 w 10224858"/>
              <a:gd name="connsiteY8" fmla="*/ 1009893 h 5182560"/>
              <a:gd name="connsiteX9" fmla="*/ 1 w 10224858"/>
              <a:gd name="connsiteY9" fmla="*/ 1009893 h 5182560"/>
              <a:gd name="connsiteX10" fmla="*/ 0 w 10224858"/>
              <a:gd name="connsiteY10" fmla="*/ 0 h 5182560"/>
              <a:gd name="connsiteX11" fmla="*/ 5517186 w 10224858"/>
              <a:gd name="connsiteY11" fmla="*/ 0 h 5182560"/>
              <a:gd name="connsiteX12" fmla="*/ 5517186 w 10224858"/>
              <a:gd name="connsiteY12" fmla="*/ 370500 h 5182560"/>
              <a:gd name="connsiteX13" fmla="*/ 0 w 10224858"/>
              <a:gd name="connsiteY13" fmla="*/ 370500 h 518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224858" h="5182560">
                <a:moveTo>
                  <a:pt x="1" y="370502"/>
                </a:moveTo>
                <a:lnTo>
                  <a:pt x="10224858" y="370502"/>
                </a:lnTo>
                <a:lnTo>
                  <a:pt x="10224858" y="1655762"/>
                </a:lnTo>
                <a:lnTo>
                  <a:pt x="10224856" y="1655762"/>
                </a:lnTo>
                <a:lnTo>
                  <a:pt x="10224856" y="5182560"/>
                </a:lnTo>
                <a:lnTo>
                  <a:pt x="265365" y="5182560"/>
                </a:lnTo>
                <a:lnTo>
                  <a:pt x="265365" y="4521295"/>
                </a:lnTo>
                <a:lnTo>
                  <a:pt x="0" y="4521295"/>
                </a:lnTo>
                <a:lnTo>
                  <a:pt x="0" y="1009893"/>
                </a:lnTo>
                <a:lnTo>
                  <a:pt x="1" y="1009893"/>
                </a:lnTo>
                <a:close/>
                <a:moveTo>
                  <a:pt x="0" y="0"/>
                </a:moveTo>
                <a:lnTo>
                  <a:pt x="5517186" y="0"/>
                </a:lnTo>
                <a:lnTo>
                  <a:pt x="5517186" y="370500"/>
                </a:lnTo>
                <a:lnTo>
                  <a:pt x="0" y="370500"/>
                </a:lnTo>
                <a:close/>
              </a:path>
            </a:pathLst>
          </a:custGeom>
          <a:solidFill>
            <a:srgbClr val="081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1ACE23-9018-F231-656E-CEB39AE4ED1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50417" y="812979"/>
            <a:ext cx="5851983" cy="419513"/>
            <a:chOff x="650417" y="812979"/>
            <a:chExt cx="5851983" cy="41951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6D28F28-CCD7-1C75-1403-9C14B04582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4358818" y="812979"/>
              <a:ext cx="2143582" cy="7914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525B4A9F-3B70-477F-EBC4-A36136F154A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50417" y="812979"/>
              <a:ext cx="3724767" cy="419513"/>
            </a:xfrm>
            <a:prstGeom prst="rect">
              <a:avLst/>
            </a:prstGeom>
          </p:spPr>
        </p:pic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FAE153C2-5433-F405-D15E-A3FC1AD1D2D7}"/>
              </a:ext>
            </a:extLst>
          </p:cNvPr>
          <p:cNvSpPr txBox="1">
            <a:spLocks/>
          </p:cNvSpPr>
          <p:nvPr/>
        </p:nvSpPr>
        <p:spPr>
          <a:xfrm>
            <a:off x="1489452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203EA9-E03B-3D05-57A0-4BDBED48E093}"/>
              </a:ext>
            </a:extLst>
          </p:cNvPr>
          <p:cNvSpPr txBox="1">
            <a:spLocks/>
          </p:cNvSpPr>
          <p:nvPr/>
        </p:nvSpPr>
        <p:spPr>
          <a:xfrm>
            <a:off x="1489452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B6862C"/>
                </a:solidFill>
              </a:rPr>
              <a:t>Questions or Comments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09A06-6141-8C65-D1CC-2B0C235B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D10D-0C69-6C4D-983B-EBA131D09A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1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IU-PPP_Template C-2025" id="{1AE17315-D3CB-B641-8A5D-F8427C5769BE}" vid="{2E16214F-EA3D-FC47-929A-B7B731848C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FIU-PPP_Template C-2025</Template>
  <TotalTime>3072</TotalTime>
  <Words>3174</Words>
  <Application>Microsoft Office PowerPoint</Application>
  <PresentationFormat>Widescreen</PresentationFormat>
  <Paragraphs>598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Consolas</vt:lpstr>
      <vt:lpstr>Courier New</vt:lpstr>
      <vt:lpstr>Georgia</vt:lpstr>
      <vt:lpstr>Wingdings</vt:lpstr>
      <vt:lpstr>Office Theme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 </vt:lpstr>
      <vt:lpstr>PowerPoint Presentation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Bandeira</dc:creator>
  <cp:lastModifiedBy>Thiago Bandeira</cp:lastModifiedBy>
  <cp:revision>58</cp:revision>
  <dcterms:created xsi:type="dcterms:W3CDTF">2025-09-16T00:10:49Z</dcterms:created>
  <dcterms:modified xsi:type="dcterms:W3CDTF">2026-04-13T02:03:17Z</dcterms:modified>
</cp:coreProperties>
</file>